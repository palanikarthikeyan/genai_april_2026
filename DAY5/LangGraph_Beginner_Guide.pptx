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</p:sldIdLst>
  <p:notesMasterIdLst>
    <p:notesMasterId r:id="rId7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notesMaster" Target="notesMasters/notesMaster1.xml"/><Relationship Id="rId79" Type="http://schemas.openxmlformats.org/officeDocument/2006/relationships/presProps" Target="presProps.xml"/><Relationship Id="rId80" Type="http://schemas.openxmlformats.org/officeDocument/2006/relationships/viewProps" Target="viewProps.xml"/><Relationship Id="rId81" Type="http://schemas.openxmlformats.org/officeDocument/2006/relationships/theme" Target="theme/theme1.xml"/><Relationship Id="rId8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9"/>
          </a:solidFill>
          <a:ln w="12700">
            <a:solidFill>
              <a:srgbClr val="061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1A3A6B">
              <a:alpha val="40000"/>
            </a:srgbClr>
          </a:solidFill>
          <a:ln w="12700">
            <a:solidFill>
              <a:srgbClr val="1A3A6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D2E5A">
              <a:alpha val="40000"/>
            </a:srgbClr>
          </a:solidFill>
          <a:ln w="12700">
            <a:solidFill>
              <a:srgbClr val="0D2E5A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315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🔗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60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1148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Beginner's Guide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Stateful, Multi-Agent AI Workflows with Confidence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Slides  •  Real Code Examples  •  Hands-On Learning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 in This Deck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LEARNING PATH — 10 SECTIONS, 100 SLIDES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77240"/>
            <a:ext cx="5029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554480"/>
            <a:ext cx="5029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3172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331720"/>
            <a:ext cx="5029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012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 Explained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02920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502920" cy="6400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77724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777240"/>
            <a:ext cx="502920" cy="640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40680" y="941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155448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554480"/>
            <a:ext cx="502920" cy="6400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69164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440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846320" y="233172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331720"/>
            <a:ext cx="502920" cy="6400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4688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440680" y="24963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46320" y="310896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108960"/>
            <a:ext cx="502920" cy="6400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2461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40680" y="32735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Tools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846320" y="3886200"/>
            <a:ext cx="4114800" cy="6400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886200"/>
            <a:ext cx="502920" cy="6400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40233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440680" y="40507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Next Steps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LangGraph?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BUILDING STATEFUL AI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is a library built on top of LangChain that lets you build stateful, multi-step AI workflows as graphs. Think of it as defining a flowchart where each step is an AI action.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92024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🔗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Graph-Based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workflows as nodes connected by edges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21031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💾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2423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memory and context across multiple steps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3756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🔄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18872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Cyclical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chains, supports loops and revisiting steps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3337560"/>
            <a:ext cx="4023360" cy="11887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5204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5486400" y="3474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840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multiple AI agents working together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LangGraph?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3840480" cy="3840480"/>
          </a:xfrm>
          <a:prstGeom prst="rect">
            <a:avLst/>
          </a:prstGeom>
          <a:solidFill>
            <a:srgbClr val="3B0A0A"/>
          </a:solidFill>
          <a:ln w="12700">
            <a:solidFill>
              <a:srgbClr val="3B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Without LangGraph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chains only — no loops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built-in state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2231136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add human review steps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2706624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Difficult multi-agent coordination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3182112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Can't revisit or retry steps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streaming intermediate results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0" y="749808"/>
            <a:ext cx="4206240" cy="3840480"/>
          </a:xfrm>
          <a:prstGeom prst="rect">
            <a:avLst/>
          </a:prstGeom>
          <a:solidFill>
            <a:srgbClr val="063B1D"/>
          </a:solidFill>
          <a:ln w="12700">
            <a:solidFill>
              <a:srgbClr val="063B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With LangGraph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128016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Cyclic graphs with loops &amp; branching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663440" y="17556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Typed state shared across all nodes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63440" y="223113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Native human-in-the-loop support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63440" y="27066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Supervisor + sub-agent patterns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63440" y="31821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Retry logic and error handling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63440" y="36576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streaming of each step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vs LangChain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RELATE &amp; WHEN TO USE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457200"/>
          </a:xfrm>
          <a:prstGeom prst="rect">
            <a:avLst/>
          </a:prstGeom>
          <a:solidFill>
            <a:srgbClr val="1A4A8A"/>
          </a:solidFill>
          <a:ln w="12700">
            <a:solidFill>
              <a:srgbClr val="1A4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822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35040" y="8229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261872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3350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83280" y="1335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(chain)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33502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(cyclic)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126187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0" y="126187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73936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18470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280" y="18470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/ manual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1847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typed state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0" y="177393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77393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86000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359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3591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35040" y="23591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support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2286000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286000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798064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65760" y="28712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28712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pipelines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287121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agents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0" y="2798064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2160" y="2798064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310128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3383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Input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38328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 needed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support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0" y="3310128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52160" y="3310128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3822192"/>
            <a:ext cx="8595360" cy="4572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65760" y="38953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383280" y="3895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Low–Medium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035040" y="389534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Medium–High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200400" y="382219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3822192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334256"/>
            <a:ext cx="8595360" cy="457200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65760" y="4407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383280" y="44074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agents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035040" y="44074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200400" y="433425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52160" y="4334256"/>
            <a:ext cx="18288" cy="4572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LangGraph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IN 3 MINUTES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530352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749808"/>
            <a:ext cx="530352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68096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005840"/>
            <a:ext cx="5029200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Install core packages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langgraph langchain-core langchain-openai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LangGraph Cloud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langgraph-cli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Optional: Studio UI for visualization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"langgraph[studio]"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Verify installation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-c "import langgraph; print(langgraph.__version__)"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749808"/>
            <a:ext cx="2926080" cy="22860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035040" y="868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Python 3.9+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 or conda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956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OpenAI API key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295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4GB RAM minimum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3504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Python knowledge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8503920" cy="1645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00400"/>
            <a:ext cx="850392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18688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02920" y="3456432"/>
            <a:ext cx="822960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your API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os.environ["OPENAI_API_KEY"] = "sk-..."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 use .env file with dotenv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dotenv import load_dotenv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load_dotenv()  # loads from .env file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Building Blocks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 KEY CONCEPTS YOU MUST KNOW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73152" cy="7315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🟦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868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17957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object passed between nodes. Like a shared whiteboard.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27632"/>
            <a:ext cx="73152" cy="7315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🟩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51560" y="17190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02996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that read state, do work, and write back to state.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78024"/>
            <a:ext cx="73152" cy="7315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6151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🔷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51560" y="25694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288036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between nodes. Can be fixed or conditional.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3328416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28416"/>
            <a:ext cx="73152" cy="7315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65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51560" y="341985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73075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workflow. Compiled from nodes + edges + state.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78808"/>
            <a:ext cx="8595360" cy="7315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78808"/>
            <a:ext cx="73152" cy="7315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051560" y="42702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51560" y="458114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state at each step. Enables memory &amp; human-in-loop.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Edges, State &amp; the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LangGraph 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ALL PIECES FIT TOGETHER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1097280" cy="5029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2011680"/>
            <a:ext cx="128016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188720"/>
            <a:ext cx="1188720" cy="5029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2926080"/>
            <a:ext cx="1188720" cy="502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0" y="2011680"/>
            <a:ext cx="1280160" cy="5029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0" y="21031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2011680"/>
            <a:ext cx="1097280" cy="50292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21031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63040" y="2263140"/>
            <a:ext cx="54864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0" y="2011680"/>
            <a:ext cx="365760" cy="-5486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286000"/>
            <a:ext cx="365760" cy="9144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0" y="1463040"/>
            <a:ext cx="457200" cy="54864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3200400"/>
            <a:ext cx="457200" cy="-91440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2263140"/>
            <a:ext cx="457200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490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State Schema: Defines what data nodes share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1148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Nodes: Python functions that process state and return updates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" y="448056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Edges: Define flow — normal (always) or conditional (based on state)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LangGraph Program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WORLD EXAMPLE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Define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MyState(TypedDict):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Define a Node (function)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greet_node(state: MyState)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f"Hello! You said: {state['message']}"}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Build the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 = StateGraph(MyState)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graph_builder.add_node("greet", greet_node)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graph_builder.set_entry_point("greet")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graph_builder.add_edge("greet", END)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4: Compile &amp;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graph_builder.compile()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graph.invoke({"message": "Hi LangGraph!", "response": ""})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# {'message': 'Hi LangGraph!', 'response': 'Hello! You said: Hi LangGraph!'}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State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MEMORY OF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Annotated,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state — simple key/value pairs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ai_response: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step_count: int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Advanced state — with message history (auto-appends)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  # append-only!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user_name: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context: dict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42900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type safety — catches errors early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34290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342900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3502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metadata — e.g. reducer functions for merging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add_messages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reducer: appends new messages to list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4114800"/>
            <a:ext cx="420624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411480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187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updates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return only the keys they want to change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&amp; Edges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building blocks of your workflow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— The Workers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NODES DO AND HOW TO WRITE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5669280" cy="3200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566928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53949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 node is just a Python function!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It receives the current state and returns a dict of updates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my_node(state: MyState)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from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state["user_input"]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 some 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processed = user_input.upper()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ONLY the keys you want to update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{"processed_input": processed}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Adding nodes to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graph.add_node("process", my_node)       # named "process"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graph.add_node("validate", validate_fn)   # named "validate"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graph.add_node("respond", respond_fn)     # named "respond"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749808"/>
            <a:ext cx="2743200" cy="320040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63640" y="868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Rules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26364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Input: full state dict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16184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Output: partial dict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1956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mutate state directly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2295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call LLMs, APIs, DBs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26364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be sync or async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2971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Pure functions preferred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86868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114800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3308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437083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node example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async_node(state: MyState)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some_api_call(state["input"])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{"output": result}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Edges — The Connectors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TYPES: NORMAL AND CONDITIONAL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201168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Edges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go from A to B. No conditions.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397764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0876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270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76479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goes A → 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graph.add_edge("node_a", "node_b")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Always goes B →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graph.add_edge("node_b", END)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749808"/>
            <a:ext cx="4114800" cy="2011680"/>
          </a:xfrm>
          <a:prstGeom prst="rect">
            <a:avLst/>
          </a:prstGeom>
          <a:solidFill>
            <a:srgbClr val="1A2E0D"/>
          </a:solidFill>
          <a:ln w="12700">
            <a:solidFill>
              <a:srgbClr val="1A2E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8503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Edges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377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path based on state at runtime.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508760"/>
            <a:ext cx="397764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50876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52704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7760" y="1764792"/>
            <a:ext cx="37033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state["done"]: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"end"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"loop"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"agent", route,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{"end": END, "loop": "agent"})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868680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80360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98648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3136392"/>
            <a:ext cx="841248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Entry and finish 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graph.set_entry_point("start_node")    # Where execution begins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graph.set_finish_point("end_node")     # Alternative to add_edge(node, END)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 constant — can also use as 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graph.add_edge(START, "first_node")   # Equivalent to set_entry_point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Node — Calling an AI Model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OPENAI TO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SystemMessage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 holds conversation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AgentState(TypedDict):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Initialize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ChatOpenAI(model="gpt-4o-mini", temperature=0)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that calls the 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llm_node(state: AgentState)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Get all messages from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state["messages"]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the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llm.invoke(messages)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Return new message (add_messages will append 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the chatbot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graph.add_node("llm", llm_node)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graph.set_entry_point("llm")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graph.add_edge("llm", END)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[HumanMessage("What is Python?")]})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Management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Reducers, Memory &amp; Checkpoints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Reducers — Merging State Updates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HOW STATE GETS UPDATED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Annotated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operator import add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Without reducer — last write wins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SimpleState(TypedDict):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count: int          # If two nodes write, last one wins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built-in reducer — add (list extend / int add)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AddState(TypedDict):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items: Annotated[list, add]   # [a] + [b] = [a, b]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total: Annotated[int, add]    # 5 + 3 = 8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reducer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keep_latest(existing, new):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"""Only keep the most recent value"""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new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merge_dicts(existing, new):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"""Merge two dicts together"""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{**existing, **new}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CustomState(TypedDict):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data: Annotated[dict, merge_dicts]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timestamp: Annotated[str, keep_latest]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add_messages is a built-in reducer for chat 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  # Smart: handles dedup + ordering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Checkpointers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PERSISTING STATE ACROSS RUNS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langgraph.checkpoint.sqlite import SqliteSaver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sqlite3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In-memory checkpointer (for development/testing)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SQLite checkpointer (persistent across restarts)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sqlite3.connect("chat_history.db", check_same_thread=False)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sqlite_saver = SqliteSaver(conn)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graph.compile(checkpointer=sqlite_saver)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thread_id to maintain separate conversations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"user_123"}}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result1 = app.invoke({"messages": [HumanMessage("My name is Alice")]}, config)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Second message in same thread — graph REMEMBERS Alice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result2 = app.invoke({"messages": [HumanMessage("What is my name?")]},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print(result2["messages"][-1].content)  # "Your name is Alice!"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Get state snapshot at any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print(state.values)  # Full state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Management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CONVERSATIONS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657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31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thread_id = separate conversation with its own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config_alice = {"configurable": {"thread_id": "alice_thread"}}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config_bob   = {"configurable": {"thread_id": "bob_thread"}}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Alice's conversation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[HumanMessage("I like cats")]}, config_alice)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[HumanMessage("What do I like?")]}, config_alice)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"You like cats!"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Bob's conversation — completely separate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[HumanMessage("I like dogs")]}, config_bob)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app.invoke({"messages": [HumanMessage("What do I like?")]}, config_bob)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"You like dogs!"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past states (history)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list(app.get_state_history(config_alice))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snapshot in history: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print(snapshot.created_at, len(snapshot.values["messages"]))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Update state manually (admin override)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app.update_state(config_alice, {"user_preference": "cats"})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572000"/>
            <a:ext cx="8686800" cy="41148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6360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Thread ID = conversation ID. Use user_id or session_id from your app as thread_id for natural multi-user support.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 &amp; Dynamic Paths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Routing in Depth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IN YOUR GRAPH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Literal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Router function returns a string key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should_continue(state: AgentState) -&gt; Literal["tools", "end"]: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 = state["messages"]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last_message = messages[-1]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If model called a tool → route to tools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last_message.tool_calls: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"tools"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Otherwise → done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Wire the conditional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"agent",              # From this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should_continue,      # Call this router function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                    # Map return values to node names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"tool_executor",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"end":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Multiple conditions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classify_intent(state)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state["intent"]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"question":   return "qa_node"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"task":       return "task_node"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intent == "feedback":   return "feedback_node"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"default_node"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Pattern — Agent with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AGENT PATTERN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ToolNode, tools_condition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Define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search_web(query: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information."""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f"Results for: {query}..."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calculate(expression: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"""Calculate a math expression."""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str(eval(expression))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[search_web, calculate]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llm_with_tools = llm.bind_tools(tools)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agent_node(state):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[llm_with_tools.invoke(state["messages"])]}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ReAct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ToolNode(tools))   # Handles tool execution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tools_condition: built-in router for tool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tools_condition)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  # Loop back after tool use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Cycles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LANGGRAPH POWERFUL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with a loop: agent retries until satisfied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ResearchState(TypedDict):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attempts: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satisfied: bool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research_node(state: ResearchState)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search(state["topic"])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"research": [result],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"attempts": state["attempts"]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evaluate_node(state: ResearchState)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if we have enough info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len(state["research"]) &gt;= 3 or state["attempts"] &gt;= 5: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{"satisfied": True}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{"satisfied": False}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should_continue_research(state)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"end" if state["satisfied"] else "research"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StateGraph(ResearchState)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graph.add_node("research", research_node)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graph.add_node("evaluate", evaluate_node)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graph.set_entry_point("research")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graph.add_edge("research", "evaluate")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graph.add_conditional_edges("evaluate", should_continue_research,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{"research": "research", "end": END})  # LOOP!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Limits &amp; Safety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PREVENTING INFINITE LOOPS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 recursion limit to prevent runaway graphs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Set at invoke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{"messages": [HumanMessage("Research AI")]},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{"recursion_limit": 25}   # Max 25 steps (default: 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Global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build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app.config["recursion_limit"] = 50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 recursion limit error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langgraph.errors import GraphRecursionError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app.invoke(input_data, {"recursion_limit": 10})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GraphRecursionError as 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print(f"Graph hit recursion limit: {e}")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Handle gracefully...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counter to state as safety mechanism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safety_check(state)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state["step_count"] &gt; 10: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"force_end"   # Emergency exit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"continue"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Pause, Review, and Approve AI Actions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(HITL)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PAUSING FOR HUMAN REVIEW OR APPROVAL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interrupt_before=["dangerous_action"]  # PAUSE before this node!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"hitl_demo"}}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Start graph — it pauses before "dangerous_action"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app.invoke({"task": "delete all files"},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print("Graph paused. Waiting for human review...")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Human reviews and decides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print("Pending action:", app.get_state(config).values)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human_says = input("Approve? (yes/no): 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human_says == "yes":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Resume from where it paused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app.invoke(None, config)  # None = continue current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print("Action approved and completed.")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Step 3: Inject rejection into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app.update_state(config, {"approved": False})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app.invoke(None,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print("Action rejected.")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 vs interrupt_before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PAUSE FOR HUMAN INPUT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1A0A3B"/>
          </a:solidFill>
          <a:ln w="12700">
            <a:solidFill>
              <a:srgbClr val="1A0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interrupt_before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BEFORE the node runs.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intent &amp; input.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cancel before damage is done.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2103120"/>
            <a:ext cx="39776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10312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1214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35915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"send_email",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"delete_record"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Dangerous actions, External side effects, Irreversible operations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749808"/>
            <a:ext cx="4114800" cy="4114800"/>
          </a:xfrm>
          <a:prstGeom prst="rect">
            <a:avLst/>
          </a:prstGeom>
          <a:solidFill>
            <a:srgbClr val="1A2E0D"/>
          </a:solidFill>
          <a:ln w="12700">
            <a:solidFill>
              <a:srgbClr val="1A2E0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868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interrupt_after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1261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AFTER the node runs.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reviews output.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edit, approve, or retry.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00600" y="2103120"/>
            <a:ext cx="3977640" cy="13716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0600" y="2103120"/>
            <a:ext cx="397764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2121408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2359152"/>
            <a:ext cx="37033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interrupt_after=[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"generate_report",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"draft_email"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Reviewing AI output, QA checkpoints, Content moderation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State During Pause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CAN MODIFY AI OUTPUT BEFORE RESUMING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Scenario: Human corrects AI's draft email before sending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interrupt_after=["draft_email"]   # Pause after drafting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"email_workflow"}}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until paused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app.invoke({"task": "Write email to boss about delay"}, config)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Inspect what AI drafted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 = state.values["draft_email"]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print("AI Draft:", draft)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 edits the draft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edited_draft = draft.replace("unfortunately", "with regret")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Inject edited content back into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{"draft_email": edited_draft},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as_node="draft_email"  # Pretend this node produced the edit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Resume — will now use the human-edited draft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app.invoke(None,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print("Email sent with human edits!")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Systems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Coordinating Multiple AI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MULTIPLE AGENTS?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5156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focuses on one task: research, coding, writing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agents work simultaneously on different subtasks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🧠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03720" y="1005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Limits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48132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large tasks into pieces that fit LLM context windows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05156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agents without redesigning the whole system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9184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📏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97764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3756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capabilities by adding new agents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2743200" cy="164592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17920" y="2926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9037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3401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failing doesn't crash the whole system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Pattern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DIRECTS THE OTHERS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840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493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langgraph_supervisor import create_supervisor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specialized worker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create_react_agent(llm, tools=[web_search], name="researcher")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writer_agent   = create_react_agent(llm, tools=[write_doc],  name="writer")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coder_agent    = create_react_agent(llm, tools=[run_code],   name="coder")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Supervisor agent coordinates workers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 = create_supervisor(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agents=[research_agent, writer_agent, coder_agent],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prompt="""You are a supervisor coordinating a team.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Delegate tasks to: researcher, writer, coder.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done, say FINISH."""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the multi-agent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supervisor.compile().invoke({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"Research LangGraph, write a summary, and create a demo script"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681728"/>
            <a:ext cx="8686800" cy="36576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7365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The supervisor LLM decides which agent to call next, based on what's been done and what still needs doing.</a:t>
            </a:r>
            <a:endParaRPr lang="en-US" sz="11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Swarm Pattern — Peer-to-Peer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HAND OFF TASKS TO EACH OTHER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langgraph_swarm import create_swarm, create_handoff_tool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handoff tools so agents can pass control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transfer_to_billing  = create_handoff_tool("billing_agent")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transfer_to_support  = create_handoff_tool("support_agent")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transfer_to_sales    = create_handoff_tool("sales_agent")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Triage agent — first point of contact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triage_agent = create_react_agent(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tools=[transfer_to_billing, transfer_to_support, transfer_to_sales],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name="triage",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prompt="Route customers to the right department."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Specialist agents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billing_agent = create_react_agent(llm, tools=[check_invoice], name="billing_agent")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support_agent = create_react_agent(llm, tools=[check_tickets], name="support_agent")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sales_agent   = create_react_agent(llm, tools=[show_products], name="sales_agent")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swarm (no central supervisor!)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 = create_swarm(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agents=[triage_agent, billing_agent, support_agent, sales_agent],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default_active_agent="triage"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swarm.compile(checkpointer=memory)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Working Applications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Persistent Chatbot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IMPLEMENTATION WITH MEMORY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ChatOpenAI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SystemMessage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TypedDict, Annotated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add_messages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ChatbotState(TypedDict):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ChatOpenAI(model="gpt-4o-mini")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chatbot_node(state: ChatbotState)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SystemMessage("You are a helpful assistant. Be concise.")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llm.invoke([system] + state["messages"])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StateGraph(ChatbotState)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graph.add_node("chat", chatbot_node)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graph.set_entry_point("chat")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graph.add_edge("chat",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graph.compile(checkpointer=MemorySaver())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Multi-turn conversation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"session_001"}}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True: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 = input("You: 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app.invoke({"messages": [HumanMessage(user_input)]},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print("Bot:", 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Research Agent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THAT SEARCHES + SYNTHESIZES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langchain_community.tools import DuckDuckGoSearchRun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 setup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 = DuckDuckGoSearchRun()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web_search(query: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"""Search the web for current information."""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search.run(query)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summarize_findings(text: str, focus: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"""Summarize research findings about a specific focus."""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f"Summarize this about '{focus}':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{text}"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llm.invoke(prompt).content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[web_search, summarize_findings]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ReAct research agent (uses prebuilt pattern)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create_react_agent(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model=llm,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state_modifier="""You are a research agent.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any topic: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Search for recent information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Search for expert opinions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Synthesize a comprehensive summary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Always cite your searches."""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research_agent.invoke({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[HumanMessage("Research the latest developments in quantum computing")]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3: Code Review Pipeline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CODE ANALYSIS WORKFLOW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CodeReviewState(TypedDict):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code: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bugs: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improvements: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review_complete: bool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detect_bugs(state)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f"Find bugs in this {state['language']} code: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{state['code']}"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llm.invoke(prompt).content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{"bugs": result.split("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suggest_improvements(state)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f"Suggest improvements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{state['code']}"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llm.invoke(prompt).content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{"improvements": result.split("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score_code(state)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bugs = len(state["bugs"])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score = max(0, 100 - bugs * 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{"score": score, "review_complete": True}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StateGraph(CodeReviewState)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graph.add_node("detect_bugs", detect_bugs)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graph.add_node("suggest_improvements", suggest_improvements)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graph.add_node("score_code", score_code)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graph.set_entry_point("detect_bugs")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graph.add_edge("detect_bugs", "suggest_improvements")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graph.add_edge("suggest_improvements", "score_code")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graph.add_edge("score_code", END)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app.invoke({"code": "def div(a,b): return a/b", "language": "Python"})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4: Content Writing Agent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DRAFT → REFINE → PUBLISH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ContentState(TypedDict):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refined: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word_count: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iterations: int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plan_outline(state)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f"Create a detailed outline for a blog post about: {state['topic']}"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outline = llm.invoke(prompt).content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{"outline": outline}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write_draft(state)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f"Write a blog post following this outline: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{state['outline']}"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draft = llm.invoke(prompt).content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words = len(draft.split())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{"draft": draft, "word_count": words, "iterations": state.get("iterations",0)+1}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refine_content(state)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f"Improve this draft for clarity and engagement: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{state['draft']}"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refined = llm.invoke(prompt).content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{"refined": refined}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needs_refinement(state)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state["word_count"] &lt; 500 and state["iterations"] &lt; 3: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"write"   # Loop back to write more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"refine"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StateGraph(ContentState)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name, fn in [("plan","plan_outline"),("write","write_draft"),("refine","refine_content")]: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graph.add_node(name, eval(fn))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graph.set_entry_point("plan")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graph.add_edge("plan", "write")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graph.add_conditional_edges("write", needs_refinement, {"write":"write","refine":"refine"})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graph.add_edge("refine", END)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5: Customer Support Bot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+ ROUTING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60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SupportState(TypedDict):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resolved: bool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escalated: bool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detect_intent(state)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state["messages"][-1].content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f"""Classify this customer message into one category: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billing, technical, shipping, general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Message: {last_msg}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with ONLY the category."""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 = llm.invoke(prompt).content.strip().lower()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{"intent": intent}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handle_billing(state)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llm.invoke(f"Handle billing query: {state['messages'][-1].content}").content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[AIMessage(response)], "resolved": True}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handle_technical(state)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llm.invoke(f"Provide technical help: {state['messages'][-1].content}").content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[AIMessage(response)], "resolved": True}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escalate(state)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[AIMessage("Connecting you to a human agent...")], "escalated": True}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route_intent(state)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intent_map = {"billing":"billing","technical":"technical","shipping":"shipping"}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intent_map.get(state["intent"], "escalate")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— Real-Time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RESULTS AS THEY HAPPEN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events as they occur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app.stream({"messages": [HumanMessage("Explain AI")]}, config):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node_name, node_output in event.items():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print(f"Node: {node_name}")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print(f"Output: {node_output}")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tokens (character by character)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stream_tokens():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app.astream_events(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{"messages": [HumanMessage("Tell me a story")]},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version="v2"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kind = event["event"]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kind == "on_chat_model_stream":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chunk = event["data"]["chunk"]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print(chunk.content, end="", flush=True)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asyncio.run(stream_tokens())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with values (get full state after each 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state in app.stream(input_data, stream_mode="values"):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print("Current state:", state)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Stream updates only (what changed)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update in app.stream(input_data, stream_mode="updates"):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print("Update:", update)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Tools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Inspect, Visualize &amp; Test Your Graph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LangGraph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TECHNIQUES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1: Print state at each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app.stream(input_data):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print("=" * 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print(event)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2: Enable verbose logging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logging.basicConfig(level=logging.DEBUG)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3: Get state at any 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state_snapshot = app.get_state(config)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print("Current state:", state_snapshot.values)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print("Next nodes:", state_snapshot.next)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print("Created at:", state_snapshot.created_at)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4: Replay from checkpoint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list(app.get_state_history(config))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Go back to step 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past_state = history[-3]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Continue from that checkpoint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past_state.config)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Method 5: Draw graph (requires graphviz)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graph_image = app.get_graph().draw_mermaid_png()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open("graph.png", "wb")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f.write(graph_image)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— Production Observability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TRACE, DEBUG &amp; MONITOR YOUR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Enable LangSmith tracing (set env vars)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os.environ["LANGCHAIN_TRACING_V2"] = "true"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os.environ["LANGCHAIN_ENDPOINT"] = "https://api.smith.langchain.com"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os.environ["LANGCHAIN_API_KEY"] = "ls__your_api_key_here"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os.environ["LANGCHAIN_PROJECT"] = "my-langgraph-app"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That's it! All LangGraph runs are now traced automatically.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app.invoke({"messages": [HumanMessage("Hello")]}, config)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What LangSmith captures automatically: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Every node execution with inputs/outputs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LLM calls with prompts and completions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Tool calls and their 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Latency per step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Token usage and costs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Errors and exceptions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✓ The full graph trace as a tree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custom metadata to traces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langchain_core.tracers.context import tracing_v2_enabled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tracing_v2_enabled(project_name="production_v2", tags=["prod", "v2.1"]):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app.invoke(input_data, config)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4800600"/>
            <a:ext cx="8686800" cy="256032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Sign up free at smith.langchain.com — essential for production debugging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Your Graphs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 &amp; INTEGRATION TESTING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unittest.mock import MagicMock, patch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individual nodes in isolation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test_classify_intent():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{"messages": [HumanMessage("My bill is wrong")], "intent": ""}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detect_intent(state)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result["intent"] == "billing"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graph with mocked 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test_chatbot_flow():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mock_llm = MagicMock()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mock_llm.invoke.return_value = AIMessage("Hello!")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patch("my_app.llm", mock_llm):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= app.invoke({"messages": [HumanMessage("Hi")]})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assert "Hello" in result["messages"][-1].content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conditional routing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test_routing():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state_with_tools = {"messages": [AIMessage("", tool_calls=[...])]}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should_continue(state_with_tools) == "tools"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state_done = {"messages": [AIMessage("Final answer!")]}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should_continue(state_done) == "end"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 with real API (integration test)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@pytest.mark.integration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test_full_flow():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app.invoke({"messages": [HumanMessage("Hello")]})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len(result["messages"]) &gt;= 2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60000"/>
            </a:srgbClr>
          </a:solidFill>
          <a:ln w="12700">
            <a:solidFill>
              <a:srgbClr val="0F172A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Next Steps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Production-Ready Agents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EXPERTS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594360" cy="59436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8503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nodes small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10642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= one responsibility. Easier to test, debug, reuse.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81328"/>
            <a:ext cx="594360" cy="59436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1848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set recursion limits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810512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25 but set explicitly. Add step counters in state too.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2185416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85416"/>
            <a:ext cx="594360" cy="59436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32257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25856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typed state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51460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TypedDict + type hints catch bugs early and make code self-documenting.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2889504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89504"/>
            <a:ext cx="594360" cy="59436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2666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29626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with checkpointers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2186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a checkpointer in production. MemorySaver is dev-only.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593592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93592"/>
            <a:ext cx="594360" cy="59436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7307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5840" y="3666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LangSmith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922776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tracing from day 1. Debugging without it in prod is painful.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97680"/>
            <a:ext cx="594360" cy="594360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434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0584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in nodes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05840" y="4626864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node logic in try/except. Update error field in state gracefully.</a:t>
            </a:r>
            <a:endParaRPr lang="en-US" sz="11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THAT TRIP UP BEGINNERS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961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8778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Mutating state directly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13385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do state['key'] = value in a node. Return a new dict instead.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7472" y="16002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15819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entry point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1837944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 set_entry_point() or add_edge(START, node). Graph won't run.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7472" y="23042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14400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checkpointer for HITL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25420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REQUIRES a checkpointer. Graph can't pause without it.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916936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30083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14400" y="2990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recursion limit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2461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loop agents will run forever. Set limit and use step counter.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74320" y="3621024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47472" y="371246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1440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Giant nodes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3950208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everything in one node defeats the purpose. Split it up!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4325112"/>
            <a:ext cx="8595360" cy="594360"/>
          </a:xfrm>
          <a:prstGeom prst="rect">
            <a:avLst/>
          </a:prstGeom>
          <a:solidFill>
            <a:srgbClr val="2D0A0A"/>
          </a:solidFill>
          <a:ln w="12700">
            <a:solidFill>
              <a:srgbClr val="2D0A0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47472" y="44165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14400" y="43982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async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654296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apps need async nodes. sync in prod = bottleneck.</a:t>
            </a:r>
            <a:endParaRPr lang="en-US" sz="11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Features to Explore Next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YOUR SKILLS FURTHER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73152" cy="117043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335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one graph inside another node. Build hierarchical agent systems.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04672"/>
            <a:ext cx="73152" cy="11704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Branching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3350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nodes in parallel using Send() API. Faster workflows.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762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76272"/>
            <a:ext cx="73152" cy="117043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Map-Reduce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to many workers, fan-in their results. Great for batch processing.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1762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176272"/>
            <a:ext cx="73152" cy="117043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3408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Cloud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27066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your graph as a production API in minutes. Auto-scaling included.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47872"/>
            <a:ext cx="73152" cy="11704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Studio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graph editor and debugger. See your graph run in real-time.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547872"/>
            <a:ext cx="4206240" cy="1170432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547872"/>
            <a:ext cx="73152" cy="11704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7124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Checkpointers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8348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(Redis, Postgres, etc) using the Checkpointer base class.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Execution with Send()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BRANCHES SIMULTANEOUSLY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langgraph.types import Send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MapReduceState(TypedDict):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documents: list[str]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summaries: list[str]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final_summary: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 step — runs once per document IN PARALLEL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summarize_doc(state: dict)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 = state["document"]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 = llm.invoke(f"Summarize: {doc}").content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{"summaries": [summary]}  # Each returns one summary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Entry node — fans out work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distribute_work(state: MapReduceState):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Send each document to a parallel worker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Send("summarize_doc", {"document": doc})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doc in state["documents"]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 step — collects all parallel 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combine_summaries(state: MapReduceState)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all_summaries =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".join(state["summaries"])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 = llm.invoke(f"Combine these summaries: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{all_summaries}").content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{"final_summary": final}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StateGraph(MapReduceState)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graph.add_node("summarize_doc", summarize_doc)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graph.add_node("combine", combine_summaries)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graph.set_entry_point("distribute")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graph.add_conditional_edges("distribute", distribute_work, ["summarize_doc"])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graph.add_edge("summarize_doc", "combine")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 — Graphs Within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REUSABLE WORKFLOW COMPONENTS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069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a reusable "research" subgraph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ResearchSubState(TypedDict):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 = StateGraph(ResearchSubState)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sub_graph.add_node("search", search_node)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sub_graph.add_node("extract", extract_node)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sub_graph.set_entry_point("search")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sub_graph.add_edge("search", "extract")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sub_graph.add_edge("extract",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research_subgraph = sub_graph.compile()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subgraph as a NODE in parent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ParentState(TypedDict):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topic: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research_query: str   # maps to sub_state["query"]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research_results: list  # maps to sub_state["results"]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report: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run_research(state: ParentState)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 subgraph directly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sub_result = research_subgraph.invoke({"query": state["research_query"]})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{"research_results": sub_result["results"]}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 = StateGraph(ParentState)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parent_graph.add_node("research", run_research)  # subgraph as node!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parent_graph.add_node("write_report", write_node)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parent_graph.set_entry_point("research")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parent_graph.add_edge("research", "write_report")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129"/>
          </a:solidFill>
          <a:ln w="12700">
            <a:solidFill>
              <a:srgbClr val="0611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457200"/>
            <a:ext cx="4572000" cy="4572000"/>
          </a:xfrm>
          <a:prstGeom prst="ellips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 to Build!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73152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4114800" cy="3657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463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1444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Docs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6733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2167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887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37744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github.com/langchain-ai/langgraph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779776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87121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88720" y="28529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Academy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08152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academy.langchain.com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94360" y="357530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35570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3785616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smith.langchain.com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187952"/>
            <a:ext cx="5029200" cy="594360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42793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188720" y="42611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44897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discord.gg/langchain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1371600"/>
            <a:ext cx="3108960" cy="3566160"/>
          </a:xfrm>
          <a:prstGeom prst="rect">
            <a:avLst/>
          </a:prstGeom>
          <a:solidFill>
            <a:srgbClr val="0D2E5A"/>
          </a:solidFill>
          <a:ln w="12700">
            <a:solidFill>
              <a:srgbClr val="0D2E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9436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the Hello World chatbot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0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tools to your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Implement HITL in a workflow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Try the supervisor pattern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Deploy to LangGraph Cloud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Monitor with LangSmith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Happy Building! 🤖</a:t>
            </a:r>
            <a:endParaRPr lang="en-US" sz="13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StateGraph vs MessageGraph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GRAPH TYPE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StateGraph — full control (recommended for most use cases)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— shortcut when state is just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MessageGraph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MessageGraph()  # State is automatically list[BaseMessage]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node signature is simpler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my_node(messages: list) -&gt; BaseMessage: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llm.invoke(messages)  # No state dict, just messages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MessageGraph compiles the same way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app.invoke([HumanMessage("Hello!")])  # Pass list directly</a:t>
            </a:r>
            <a:endParaRPr lang="en-US" sz="10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vs Untyped State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&amp; WHEN TO USE EACH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Untyped — fast prototyping, flexible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StateGraph(dict)  # Any key is valid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loose_node(state: dict)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{"anything": "goes", "new_key": 123}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TypedDict — production recommended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typing import TypedDict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StrictState(TypedDict):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StateGraph(StrictState)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Pydantic — validation + serialization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BaseModel, validator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ValidatedState(BaseModel):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age: int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@validator("age")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age_must_be_positive(cls, v):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v &lt; 0: raise ValueError("Age must be positive")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v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StateGraph(ValidatedState)</a:t>
            </a:r>
            <a:endParaRPr lang="en-US" sz="10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Calling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AGENTS CAPABILITIES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langchain_core.tools import tool, StructuredTool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Simple @tool decorator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get_weather(city: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current weather for a city."""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f"Sunny, 22°C in {city}"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Structured tool with Pydantic input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SearchInput(BaseModel):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query: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max_results: int =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language: str = "en"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search_fn(query: str, max_results: int, language: str)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f"Top {max_results} results for '{query}' in {language}"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search_tool = StructuredTool.from_function(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func=search_fn,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name="web_search",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description="Search the web for information",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args_schema=SearchInput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Bind tools to LLM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llm_with_tools = llm.bind_tools([get_weather, search_tool])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Handle tool results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ToolMessage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process_tool_result(state):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 = state["messages"][-1].tool_calls[0]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get_weather(tool_call["args"]["city"])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[ToolMessage(result, tool_call_id=tool_call["id"])]}</a:t>
            </a:r>
            <a:endParaRPr lang="en-US" sz="10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ToolNode — Automatic Tool Execution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TOOL RUNNER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ToolNode automatically handles tool calls from LLM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[search_web, get_weather, run_code]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tool_node = ToolNode(tools)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How it works internally: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Gets last AI 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Finds tool_calls in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Executes each tool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Returns ToolMessage for each result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graph.add_node("agent", agent_fn)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tool_node)  # Plug-and-play!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graph.add_conditional_edges("agent", tools_condition)  # Also prebuilt!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graph.add_edge("tools", "agent")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tools_condition prebuilt router: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"tools" if last message has tool_calls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END if last message is a regular response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tool error handling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tool_node = ToolNode(tools, handle_tool_errors=True)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Catches errors and returns them as ToolMessage</a:t>
            </a:r>
            <a:endParaRPr lang="en-US" sz="10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— Instant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 REACT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create_react_agent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1-liner ReAct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tools=[search, calculator])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system prompt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tools=[search, calculator],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state_modifier="You are a helpful research assistant. Always cite sources."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message modifier (dynamic)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prepend_system(messages):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SystemMessage("Be concise. Today is Monday.")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[system] + messages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tools, state_modifier=prepend_system)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checkpointer for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create_react_agent(llm, tools, checkpointer=MemorySaver())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[HumanMessage("What is the capital of France?")]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print(result["messages"][-1].content)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Types Reference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MESSAGE CLASSES YOU NEED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HumanMessage,    # User input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AIMessage,       # LLM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SystemMessage,   # System/instruction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ToolMessage,     # Tool execution 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FunctionMessage, # Deprecated, use ToolMessage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 = HumanMessage(content="What's the weather?")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AIMessage with tool calls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ai_with_tools = AIMessage(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content="",  # Empty content when calling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tool_calls=[{"name": "get_weather", "args": {"city": "NYC"}, "id": "call_123"}]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AIMessage with text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ai_response = AIMessage(content="It's sunny in NYC today!")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ToolMessage (result of tool call)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 = ToolMessage(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content="Sunny, 22°C",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tool_call_id="call_123"  # Must match the tool_call id!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= SystemMessage(content="You are a weather expert.")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Message with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msg = HumanMessage(content="Hello", name="Alice", id="msg_001")</a:t>
            </a:r>
            <a:endParaRPr lang="en-US" sz="1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Visualization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GRAPH AS A DIAGRAM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1: Mermaid diagram (text)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print(app.get_graph().draw_mermaid())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graph TD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__start__ --&gt;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agent --&gt;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tools --&gt; agent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agent --&gt; __end__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2: PNG image (requires graphviz or playwright)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IPython.display import Image, display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graphviz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display(Image(app.get_graph().draw_png()))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print("Install graphviz: pip install graphviz")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playwright (better quality)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png_data = app.get_graph().draw_mermaid_png()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open("my_graph.png", "wb")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f.write(png_data)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3: ASCII art (any terminal)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app.get_graph().print_ascii()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Option 4: Get node/edge info programmatically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graph_info = app.get_graph()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print("Nodes:", list(graph_info.nodes.keys()))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print("Edges:", graph_info.edges)</a:t>
            </a:r>
            <a:endParaRPr lang="en-US" sz="10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HIGH-PERFORMANCE AGENTS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async_llm_node(state: AgentState)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await llm.ainvoke(state["messages"])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[response]}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async_tool_node(state: AgentState)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Run multiple tools concurrently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search_tool.ainvoke(state["query"]),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database_tool.ainvoke(state["id"])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{"tool_results": list(results)}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graph with async nodes (same API!)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StateGraph(AgentState)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graph.add_node("llm", async_llm_node)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graph.add_node("tools", async_tool_node)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graph.set_entry_point("llm")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invoke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main():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await app.ainvoke({"messages": [HumanMessage("Hello")]})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Async stream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async for event in app.astream(input_data):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print(event)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asyncio.run(main())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Metadata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CONFIGURATION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config structure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"configurable":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"thread_id": "user_session_abc",   # For checkpointing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"checkpoint_ns": "v2",             # Namespace checkpoints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"model_name": "gpt-4o"             # Custom config your nodes read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"recursion_limit": 30,                  # Max graph steps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"tags": ["prod", "customer_facing"],    # For LangSmith filtering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"metadata": {                           # Custom metadata in traces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"user_id": "u_12345",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"environment": "production",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"feature_flag": "new_routing_v2"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"run_name": "customer_support_session", # Trace name in LangSmith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"callbacks": []                         # Custom callback handlers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configurable in 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my_node(state, config):  # Note: 2nd param = config!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= config.get("configurable", {}).get("model_name", "gpt-4o-mini")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llm = ChatOpenAI(model=model)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llm.invoke(state["input"]).content}</a:t>
            </a:r>
            <a:endParaRPr lang="en-US" sz="10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 Graphs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FAILURE STRATEGIES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langgraph.errors import GraphRecursionError, NodeInterrupt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1: Try/except inside 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safe_llm_node(state)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response = llm.invoke(state["messages"])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{"messages": [response], "error": None}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 Exception as 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{"error": str(e), "messages": [AIMessage(f"Error: {e}")]}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2: Error state routing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route_on_error(state)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state.get("error"):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"error_handler"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"continue"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graph.add_conditional_edges("main_node", route_on_error,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{"error_handler": "error_node", "continue": "next_node"})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3: Raise NodeInterrupt to pause (like HITL)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risky_node(state)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state["risk_score"] &gt; 0.9: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raise NodeInterrupt("High risk action detected! Review required.")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{"result": "action_completed"}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Strategy 4: Retry with backoff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retry_node(state, max_retries=3)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range(max_retries):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 {"result": call_api(state["query"])}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time.sleep(2 ** i)  # Exponential backoff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{"error": "Max retries exceeded"}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Cloud Deployment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IT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langgraph.json — deployment configuration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"dependencies": ["."],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"graphs":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"agent": "./my_agent/graph.py:app"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"env": ".env"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Deploy with CLI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 up         → start local dev server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langgraph deploy     → deploy to LangGraph Cloud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Using the deployed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httpx.Client(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base_url="https://your-deployment.langgraph.app",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headers={"X-Api-Key": "your_api_key"}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Invoke your deployed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client.post("/runs", json={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"assistant_id": "agent",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"input": {"messages": [{"role": "human", "content": "Hello!"}]},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"config": {"configurable": {"thread_id": "thread_001"}}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List threads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threads = client.get("/threads").json()</a:t>
            </a:r>
            <a:endParaRPr lang="en-US" sz="10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YOUR GRAPHS FAST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Use async for I/O-bound operations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optimized_node(state):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await asyncio.gather(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llm.ainvoke(state["messages"]),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search.ainvoke(state["query"])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{"response": results[0], "search": results[1]}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Cache expensive computations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functools import lru_cache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@lru_cache(maxsize=100)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cached_embedding(text: str):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embedder.embed_query(text)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Use faster models for routing decisions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fast_llm = ChatOpenAI(model="gpt-4o-mini")  # Route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powerful_llm = ChatOpenAI(model="gpt-4o")    # Generate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route_node(state):  # Uses fast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decision = fast_llm.invoke(state["messages"]).content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{"route": decision}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Batch multiple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batch_processing_node(state):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items = state["items"]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Process in batches of 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i in range(0, len(items), 5):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 = items[i:i+5]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batch_results = llm.batch([{"messages": [HumanMessage(item)]} for item in batch])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results.extend(batch_results)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{"results": results}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with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AGENT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langchain_community.vectorstores import FAISS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langchain_openai import OpenAIEmbeddings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langchain.text_splitter import CharacterTextSplitter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RAGState(TypedDict):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question: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retrieved_docs: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needs_more_docs: bool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Setup vector store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embeddings = OpenAIEmbeddings()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vectorstore = FAISS.from_texts(documents, embeddings)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retriever = vectorstore.as_retriever(search_kwargs={"k": 4})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retrieve_docs(state: RAGState)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docs = retriever.invoke(state["question"])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{"retrieved_docs": [d.page_content for d in docs]}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generate_answer(state: RAGState)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 =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".join(state["retrieved_docs"])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f"Context: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{context}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{state['question']}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answer = llm.invoke(prompt).content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{"answer": answer}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grade_answer(state: RAGState)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Check if answer is grounded in docs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 = llm.invoke(f"Is this answer supported by the docs? Yes/No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{state['answer']}").content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{"needs_more_docs": "no" in check.lower()}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StateGraph(RAGState)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graph.add_node("retrieve", retrieve_docs)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graph.add_node("generate", generate_answer)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graph.add_node("grade", grade_answer)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graph.set_entry_point("retrieve")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graph.add_edge("retrieve", "generate")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graph.add_edge("generate", "grade")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graph.add_conditional_edges("grade",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s: "retrieve" if s["needs_more_docs"] else "end",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{"retrieve": "retrieve", "end": END})</a:t>
            </a:r>
            <a:endParaRPr lang="en-US" sz="10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Graph Construction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GRAPHS AT RUNTIME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different graphs based on configuration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create_agent_graph(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tools: list,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enable_memory: bool =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enable_hitl: bool =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max_steps: int = 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CompiledGraph: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 = StateGraph(AgentState)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Always add core nodes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graph.add_node("agent", lambda s: {"messages": [llm_with_tools.invoke(s["messages"])]})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graph.add_node("tools", ToolNode(tools))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graph.set_entry_point("agent")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graph.add_conditional_edges("agent", tools_condition)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graph.add_edge("tools", "agent")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Conditionally add features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 = MemorySaver() if enable_memory else None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 = ["tools"] if enable_hitl else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graph.compile(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checkpointer=checkpointer,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interrupt_before=interrupt_before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factory to create different variants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dev_agent  = create_agent_graph(tools, enable_memory=False)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prod_agent = create_agent_graph(tools, enable_memory=True, max_steps=50)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safe_agent = create_agent_graph(tools, enable_hitl=True)</a:t>
            </a:r>
            <a:endParaRPr lang="en-US" sz="10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Composition Patterns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COMPLEX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1: Sequential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graph.add_edge("step1", "step2")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graph.add_edge("step2", "step3")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2: Parallel then merge (use Send API)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fan_out(state):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[Send("worker", {"item": i}) for i in state["items"]]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graph.add_conditional_edges("coordinator", fan_out, ["worker"])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graph.add_edge("worker", "merge")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3: Conditional branch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graph.add_conditional_edges("router", classify,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{"a": "handler_a", "b": "handler_b", "c": "handler_c"})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graph.add_edge("handler_a", "merge")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graph.add_edge("handler_b", "merge")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graph.add_edge("handler_c", "merge")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4: Retry loop with counter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retry_or_done(state) -&gt; str: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"done" if state["success"] or state["attempts"] &gt;= 3 else "retry"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graph.add_conditional_edges("task", retry_or_done, {"retry": "task", "done": END})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Pattern 5: Human approval gate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checkpointer=memory,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interrupt_before=["execute"]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Alerting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OBSERVABILITY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langchain_core.callbacks import BaseCallbackHandler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Custom callback handler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MetricsCallback(BaseCallbackHandler):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self.start_times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on_chain_start(self, serialized, inputs, **kwargs):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run_id = kwargs.get("run_id")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self.start_times[run_id] = time.time()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print(f"Chain started: {serialized.get('name')}")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on_chain_end(self, outputs, **kwargs):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run_id = kwargs.get("run_id")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duration = time.time() - self.start_times.get(run_id, time.time())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print(f"Chain ended in {duration:.2f}s")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Send to your metrics system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prometheus_counter.inc()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on_llm_end(self, response, **kwargs):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usage = response.llm_output.get("token_usage", {})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total_tokens = usage.get("total_tokens",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print(f"Tokens used: {total_tokens}")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 the callback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= MetricsCallback()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app.invoke(input_data, config={"callbacks": [metrics]})</a:t>
            </a:r>
            <a:endParaRPr lang="en-US" sz="1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YOUR AGENTS SAFE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and sanitize user input before passing to LLM nodes. Use Pydantic validators on your state schema.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Permission Scoping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agent only the tools it needs. Never give all tools to all agents.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step counters and time checks in state. Limit expensive API calls per session.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API keys. Use environment variables or secret managers like AWS Secrets Manager.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Sanitization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LLM outputs before acting on them. Don't blindly execute code from LLMs.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all tool calls and state transitions. Essential for debugging and compliance.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&amp; DOCUMENTS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base64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MultiModalState(TypedDict):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image_analysis: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Image input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analyze_image(state: MultiModalState)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Read and encode image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open("image.jpg", "rb") as f: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image_data = base64.b64encode(f.read()).decode()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Send to vision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 = HumanMessage(content=[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"image_url", "image_url": {"url": f"data:image/jpeg;base64,{image_data}"}},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{"type": "text", "text": "Describe this image in detail."}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vision_llm = ChatOpenAI(model="gpt-4o")  # Vision-capable model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vision_llm.invoke([message])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{"image_analysis": response.content, "messages": [response]}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document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process_pdf(state)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from langchain_community.document_loaders import PyPDFLoader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loader = PyPDFLoader(state["pdf_path"])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pages = loader.load()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".join([p.page_content for p in pages])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{"document_content": content}</a:t>
            </a:r>
            <a:endParaRPr lang="en-US" sz="1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Time-Aware Agents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&amp; TEMPORAL REASONING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datetime import datetime, timedelta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asyncio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ScheduledState(TypedDict):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Annotated[list, add_messages]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scheduled_time: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completed: bool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Node that waits until scheduled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wait_and_execute(state: ScheduledState)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scheduled = datetime.fromisoformat(state["scheduled_time"])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now = datetime.now()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scheduled &gt; now: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wait_seconds = (scheduled - now).total_seconds()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print(f"Waiting {wait_seconds:.0f} seconds until scheduled time...")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await asyncio.sleep(min(wait_seconds, 60))  # Check every minute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{"messages": [HumanMessage(f"Executing: {state['task']}")]}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[HumanMessage(f"Running now: {state['task']}")]}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Date-aware reasoning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date_context_node(state)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today = datetime.now().strftime("%A, %B %d, %Y")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 = SystemMessage(f"Today is {today}. Use this for any date calculations.")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{"messages": [system] + state["messages"]}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State Versioning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SCHEMA CHANGES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Problem: State schema changes break existing checkpoints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Solution 1: Add optional fields with defaults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StateV2(TypedDict, total=False):  # total=False = all optional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new_field: str   # New in V2 — won't break V1 checkpoints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Solution 2: Version field in 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VersionedState(TypedDict):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schema_version: 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messages: list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V1 fields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user_input: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V2 fields (may not exist in old checkpoints)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session_metadata: dict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migrate_state(state: dict) -&gt; dict: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"""Run at start of each invocation to migrate old state"""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version = state.get("schema_version", 1)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version &lt; 2: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state["session_metadata"] =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state["schema_version"] = 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state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Migration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graph.add_node("migrate", lambda s: migrate_state(s))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graph.set_entry_point("migrate")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graph.add_edge("migrate", "main_agent")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TEST COVERAGE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langchain_core.messages import HumanMessage, AIMessage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Unit test: Single node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test_intent_classifier():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{"message": "I need help with billing", "intent": ""}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classify_intent_node(state)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result["intent"] == "billing"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Integration test: Subgraph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test_research_subgraph():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research_graph.invoke({"query": "Python basics", "results": []})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len(result["results"])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"Python" in str(result["results"])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End-to-end test: Full graph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test_full_chatbot_flow():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 = {"configurable": {"thread_id": "test_001"}}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app.invoke(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{"messages": [HumanMessage("What is 2+2?")]},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last_msg = result["messages"][-1].content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"4" in last_msg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Conditional routing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@pytest.mark.parametrize("has_tools,expected",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(True, "tools"), (False, "end")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test_routing(has_tools, expected):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 = {"messages": [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AIMessage("", tool_calls=[{"id":"1","name":"search","args":{}}]) if has_tools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AIMessage("Done!")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should_continue(state) == expected</a:t>
            </a:r>
            <a:endParaRPr lang="en-US" sz="10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Checklist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SHIP TO PRODUCTION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configured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MemorySaver is dev-only. Use SQLite, Redis, or Postgres in production for persistence across restarts.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Recursion limits set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recursion_limit explicitly. Add max_steps counter in state as backup safety mechanism.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in every node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nodes should catch exceptions and return error state. Never let exceptions bubble up uncaught.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tracing enabled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LANGCHAIN_TRACING_V2=true and LANGCHAIN_API_KEY in production environment variables.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implemented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API calls per user/session. Add delays or quotas to prevent runaway costs.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testing completed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concurrent users. Async graphs handle concurrency much better than sync.</a:t>
            </a:r>
            <a:endParaRPr lang="en-US" sz="12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Glossary of Terms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REFERENCE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/ StateGraph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container. You add nodes and edges to it, then compile it into a runnable app.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function that receives state and returns a dict of updates. The worker of the graph.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/ Conditional 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between nodes. Normal always fires; conditional uses a function to decide.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/ TypedDict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data passed between nodes. Defined as a TypedDict schema with typed fields.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 / MemorySaver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state after each node. Enables memory persistence and human-in-the-loop.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ID / Config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for a conversation. Multiple threads = multiple users with separate state histories.</a:t>
            </a:r>
            <a:endParaRPr lang="en-US" sz="12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Cheatsheet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USED PATTERNS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686800" cy="4114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49808"/>
            <a:ext cx="8686800" cy="2011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68096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CODE EXAMPLE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8412480" cy="376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END, START, add_messages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 = StateGraph(MyState)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graph.add_node("name", function)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graph.set_entry_point("name")    # or: graph.add_edge(START, "name")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graph.add_edge("a", "b")         # fixed edge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graph.add_edge("b", 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graph.add_conditional_edges("c", router_fn, {"x": "d", "y": END})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graph.compile()            # or: .compile(checkpointer=memory)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RUN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app.invoke(initial_state)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app.invoke(initial_state, 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event in app.stream(initial_state): ...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MEMORY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langgraph.checkpoint.memory import MemorySaver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MemorySaver()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{"configurable": {"thread_id": "abc"}}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 = app.get_state(config)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app.update_state(config, updates)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HUMAN-IN-LOOP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graph.compile(checkpointer=memory, interrupt_before=["node"])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app.invoke(input, config)   # pauses before "node"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app.invoke(None, config)    # resumes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PREBUILT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langgraph.prebuilt import ToolNode, tools_condition, create_react_agent</a:t>
            </a:r>
            <a:endParaRPr lang="en-US" sz="1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Questions on LangGraph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KNOWLEDGE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difference between a normal and conditional edge?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Normal edges always go to the same next node. Conditional edges call a function at runtime that returns a string key, deciding which path to take based on current state.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Why do we need a checkpointer for HITL?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Human-in-the-loop requires the graph to pause and wait for input. Without a checkpointer, there's nowhere to save the state while it waits, so no HITL is possible.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does add_messages reducer do?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It's a built-in reducer that appends new messages to the existing list, handles deduplication by message ID, and maintains correct ordering. Used as Annotated[list, add_messages].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a thread_id used for?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Thread IDs separate different conversations/sessions. Each thread_id has its own state history in the checkpointer, allowing multi-user support naturally.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How do you prevent infinite loops?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Set recursion_limit in config (default 25), add a step counter to state and check it in conditional edges, and ensure at least one path always terminates at END.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What is the Send() API for?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Send() enables fan-out parallelism — you can dispatch work to many nodes concurrently from a single conditional edge function, enabling map-reduce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Congratulations! 🎉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LANGGRAPH — NOW BUILD!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22960"/>
            <a:ext cx="73152" cy="5669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understand the fundamentals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115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nodes, edges, graphs — you know what they are, how they work, and when to use each pattern.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508760"/>
            <a:ext cx="73152" cy="5669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819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build real agents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8013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Chatbots, research agents, code reviewers, customer support bots — you have working examples for all of them.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73152" cy="5669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67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production patterns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2487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Checkpointers, HITL, error handling, streaming, multi-agent systems, async — you're production-ready.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80360"/>
            <a:ext cx="73152" cy="5669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535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learning roadmap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1729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Subgraphs, Send() API, LangGraph Cloud, LangSmith — you know exactly what to explore next.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8595360" cy="566928"/>
          </a:xfrm>
          <a:prstGeom prst="rect">
            <a:avLst/>
          </a:prstGeom>
          <a:solidFill>
            <a:srgbClr val="152B4A"/>
          </a:solidFill>
          <a:ln w="12700">
            <a:solidFill>
              <a:srgbClr val="152B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566160"/>
            <a:ext cx="73152" cy="56692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6393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38587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from: persistent chatbot, research agent, code reviewer, or content pipeline — and ship it!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251960"/>
            <a:ext cx="8595360" cy="566928"/>
          </a:xfrm>
          <a:prstGeom prst="rect">
            <a:avLst/>
          </a:prstGeom>
          <a:solidFill>
            <a:srgbClr val="0F1F38"/>
          </a:solidFill>
          <a:ln w="12700">
            <a:solidFill>
              <a:srgbClr val="0F1F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251960"/>
            <a:ext cx="73152" cy="5669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251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45445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langchain-ai.github.io/langgraph has tutorials, the GitHub has examples, and the Discord community is very active.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76</Slides>
  <Notes>76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LangGraph: Complete Beginner's Guide</dc:title>
  <dc:subject>PptxGenJS Presentation</dc:subject>
  <dc:creator>LangGraph Tutorial</dc:creator>
  <cp:lastModifiedBy>LangGraph Tutorial</cp:lastModifiedBy>
  <cp:revision>1</cp:revision>
  <dcterms:created xsi:type="dcterms:W3CDTF">2026-04-14T23:29:25Z</dcterms:created>
  <dcterms:modified xsi:type="dcterms:W3CDTF">2026-04-14T23:29:25Z</dcterms:modified>
</cp:coreProperties>
</file>