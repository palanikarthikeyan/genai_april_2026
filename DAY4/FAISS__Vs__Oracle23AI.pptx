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0F9E8-00E2-4108-23DD-9E0D933B9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39090F-B63E-D9D5-DA99-DF8FDFC50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7F2FE-1DB0-EA37-5C0F-F03BA4981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EE71-32D6-4C14-9EE2-8361EB9EB374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E9001-52AD-3EF4-E2EB-8E9A9A8AC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11BCD-7D5D-274A-0C11-F0036A924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55FBA-75F3-4B2F-ADDC-50CD938A2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16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C2C23-5085-8613-5823-384255EAE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4CC6A-D08D-EAD6-B956-97FB20D44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68C1C-66A0-C98F-8382-4AB84BA4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EE71-32D6-4C14-9EE2-8361EB9EB374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62EE7-E0DF-171B-57C7-5C03A1D3E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E3677-0411-D539-9075-F739EB3E9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55FBA-75F3-4B2F-ADDC-50CD938A2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245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8FB52-D613-9704-E40D-0BB55CAB7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68584-BFE9-895D-D2FF-EF585E4C3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03E2A-FDE5-7259-C4D4-315F51F4F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EE71-32D6-4C14-9EE2-8361EB9EB374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1E07B-B343-2529-7850-6EB107938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1BEB3-3976-9A23-FFDC-F734026BF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55FBA-75F3-4B2F-ADDC-50CD938A2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873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8F69A-E4CC-3F42-59D7-1F2866024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A10B8-0323-CB3C-818D-C473FDFEAF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E4AEC7-D679-B128-4EC8-465694357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5C1BBD-C7A9-CF55-E80D-2F6FCFA45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EE71-32D6-4C14-9EE2-8361EB9EB374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B345E-A287-11F0-DB3E-69A4205E0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3B6A4-F8DA-9838-757D-3FF8101EE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55FBA-75F3-4B2F-ADDC-50CD938A2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952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E95A8-694D-F861-AF1C-E5A85E494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C9036-FEA7-8BCF-409C-A921308DA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EBECAE-AC15-8C29-B275-72E41CF59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4FB739-DDEE-3115-3170-87926DB641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782925-6F5E-0F89-5E45-8755AA8564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F5B10F-1F3C-CFF1-7E2A-BD762660A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EE71-32D6-4C14-9EE2-8361EB9EB374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A7F97E-853D-AB89-B8D5-209E9EA07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B72CAF-3C83-EB36-11DA-BF6531A9C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55FBA-75F3-4B2F-ADDC-50CD938A2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912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11B06-CBC5-2B66-282B-6E9120B36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D4A45D-1F77-8ED0-7D8B-783D10824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EE71-32D6-4C14-9EE2-8361EB9EB374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70BEE3-EBF3-E0FE-8C2C-6052A8177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D81B8D-1DBE-3BF7-C2E0-65C6DDB62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55FBA-75F3-4B2F-ADDC-50CD938A2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305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FE9DE6-17AC-3EDF-06A9-2A367EC91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EE71-32D6-4C14-9EE2-8361EB9EB374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859E7A-87CA-85A2-6E1F-43F494761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71FE7-B437-7A6E-E4DC-18A176180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55FBA-75F3-4B2F-ADDC-50CD938A2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803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AA968-C71F-34EE-C542-778CA054F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2472B-9F58-A798-217E-DCE12C837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5247A-2C72-747F-8D28-D257BE57D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215AE-52C9-5E07-4DA9-4DDB26B94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EE71-32D6-4C14-9EE2-8361EB9EB374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A660C-4535-3F7A-D68E-336992E4D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71B7F8-68B4-8DFF-3B0E-75EAEDFC6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55FBA-75F3-4B2F-ADDC-50CD938A2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31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541C3-6413-87E4-AF2D-D89BDDE5D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78E459-6756-3245-4B25-B4D224841F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64C383-9262-692F-65CB-6837532A96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B46B6-CC98-EA90-1AE4-2350B6B03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EE71-32D6-4C14-9EE2-8361EB9EB374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531A30-CFF4-6A68-1A1A-0DB03120C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28F9FD-BB3C-B90B-416A-B99455925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55FBA-75F3-4B2F-ADDC-50CD938A2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595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E9C03-DC6B-B410-FC27-47410DA2B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380E6A-B326-8B9C-0D2F-AF3062A91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43391-1060-77AE-1693-8910E8B98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EE71-32D6-4C14-9EE2-8361EB9EB374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B4CBC-CA24-AA62-F88B-69E464AAD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D34E2-9778-1626-C197-4C9C56D3C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55FBA-75F3-4B2F-ADDC-50CD938A2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867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DF8896-EDD4-F157-9C40-00F111D81A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76AB70-26F7-D030-32D4-2549575626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61506-5961-BA2E-3DD1-787B0D306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EE71-32D6-4C14-9EE2-8361EB9EB374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0C292-1753-F182-7AC5-1897C0915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B4A86-0901-67FD-F55F-0DE98A7F2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55FBA-75F3-4B2F-ADDC-50CD938A2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843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F02565-1575-7846-2EFB-A161D60C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3574B-9B90-7349-ED39-E041B4C1D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BF80B-6F43-EEF3-CF90-7AF75665BA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9EE71-32D6-4C14-9EE2-8361EB9EB374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7507A-5470-4C97-7412-B1F4F2F054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246A9-66A8-0457-420A-1B1DB60D1D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55FBA-75F3-4B2F-ADDC-50CD938A2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195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BDEC3-9027-7661-E40A-10B129E32F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656" y="1122362"/>
            <a:ext cx="10991088" cy="2398077"/>
          </a:xfrm>
        </p:spPr>
        <p:txBody>
          <a:bodyPr/>
          <a:lstStyle/>
          <a:p>
            <a:r>
              <a:rPr lang="en-IN" dirty="0"/>
              <a:t>FAISS vs Oracle 23ai Vector Store</a:t>
            </a:r>
          </a:p>
        </p:txBody>
      </p:sp>
    </p:spTree>
    <p:extLst>
      <p:ext uri="{BB962C8B-B14F-4D97-AF65-F5344CB8AC3E}">
        <p14:creationId xmlns:p14="http://schemas.microsoft.com/office/powerpoint/2010/main" val="1482389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2630E23-A4DF-81D6-231E-B2886806D0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460060"/>
              </p:ext>
            </p:extLst>
          </p:nvPr>
        </p:nvGraphicFramePr>
        <p:xfrm>
          <a:off x="1665732" y="496748"/>
          <a:ext cx="8860536" cy="8243519"/>
        </p:xfrm>
        <a:graphic>
          <a:graphicData uri="http://schemas.openxmlformats.org/drawingml/2006/table">
            <a:tbl>
              <a:tblPr/>
              <a:tblGrid>
                <a:gridCol w="2953512">
                  <a:extLst>
                    <a:ext uri="{9D8B030D-6E8A-4147-A177-3AD203B41FA5}">
                      <a16:colId xmlns:a16="http://schemas.microsoft.com/office/drawing/2014/main" val="1910749503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989570692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2908850036"/>
                    </a:ext>
                  </a:extLst>
                </a:gridCol>
              </a:tblGrid>
              <a:tr h="217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</a:rPr>
                        <a:t>Feature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+mn-lt"/>
                        </a:rPr>
                        <a:t>FAISS</a:t>
                      </a:r>
                      <a:endParaRPr lang="en-IN" sz="1600">
                        <a:latin typeface="+mn-lt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+mn-lt"/>
                        </a:rPr>
                        <a:t>Oracle 23ai Vector Search</a:t>
                      </a:r>
                      <a:endParaRPr lang="en-IN" sz="1600">
                        <a:latin typeface="+mn-lt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027765"/>
                  </a:ext>
                </a:extLst>
              </a:tr>
              <a:tr h="6925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+mn-lt"/>
                        </a:rPr>
                        <a:t>What it is</a:t>
                      </a:r>
                      <a:endParaRPr lang="en-IN" sz="1600" dirty="0">
                        <a:latin typeface="+mn-lt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n-lt"/>
                        </a:rPr>
                        <a:t>Facebook AI Similarity Search — a </a:t>
                      </a:r>
                      <a:r>
                        <a:rPr lang="en-US" sz="1600" b="1">
                          <a:latin typeface="+mn-lt"/>
                        </a:rPr>
                        <a:t>library</a:t>
                      </a:r>
                      <a:r>
                        <a:rPr lang="en-US" sz="1600">
                          <a:latin typeface="+mn-lt"/>
                        </a:rPr>
                        <a:t> (not a DB) for fast vector similarity search.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+mn-lt"/>
                        </a:rPr>
                        <a:t>A </a:t>
                      </a:r>
                      <a:r>
                        <a:rPr lang="en-US" sz="1600" b="1" dirty="0">
                          <a:latin typeface="+mn-lt"/>
                        </a:rPr>
                        <a:t>database feature</a:t>
                      </a:r>
                      <a:r>
                        <a:rPr lang="en-US" sz="1600" dirty="0">
                          <a:latin typeface="+mn-lt"/>
                        </a:rPr>
                        <a:t> in Oracle 23ai that lets you store and search embeddings directly inside Oracle tables.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86886"/>
                  </a:ext>
                </a:extLst>
              </a:tr>
              <a:tr h="372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+mn-lt"/>
                        </a:rPr>
                        <a:t>Storage location</a:t>
                      </a:r>
                      <a:endParaRPr lang="en-IN" sz="1600">
                        <a:latin typeface="+mn-lt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n-lt"/>
                        </a:rPr>
                        <a:t>Stores vectors </a:t>
                      </a:r>
                      <a:r>
                        <a:rPr lang="en-US" sz="1600" b="1">
                          <a:latin typeface="+mn-lt"/>
                        </a:rPr>
                        <a:t>in-memory</a:t>
                      </a:r>
                      <a:r>
                        <a:rPr lang="en-US" sz="1600">
                          <a:latin typeface="+mn-lt"/>
                        </a:rPr>
                        <a:t> or as local binary files (index.faiss).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n-lt"/>
                        </a:rPr>
                        <a:t>Stores vectors </a:t>
                      </a:r>
                      <a:r>
                        <a:rPr lang="en-US" sz="1600" b="1">
                          <a:latin typeface="+mn-lt"/>
                        </a:rPr>
                        <a:t>in Oracle Database tables</a:t>
                      </a:r>
                      <a:r>
                        <a:rPr lang="en-US" sz="1600">
                          <a:latin typeface="+mn-lt"/>
                        </a:rPr>
                        <a:t> with a VECTOR data type.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4485938"/>
                  </a:ext>
                </a:extLst>
              </a:tr>
              <a:tr h="5327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+mn-lt"/>
                        </a:rPr>
                        <a:t>Scalability</a:t>
                      </a:r>
                      <a:endParaRPr lang="en-IN" sz="1600" dirty="0">
                        <a:latin typeface="+mn-lt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n-lt"/>
                        </a:rPr>
                        <a:t>Single machine (CPU/GPU). You must manage persistence manually.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n-lt"/>
                        </a:rPr>
                        <a:t>Fully </a:t>
                      </a:r>
                      <a:r>
                        <a:rPr lang="en-US" sz="1600" b="1">
                          <a:latin typeface="+mn-lt"/>
                        </a:rPr>
                        <a:t>distributed, persistent, and transactional</a:t>
                      </a:r>
                      <a:r>
                        <a:rPr lang="en-US" sz="1600">
                          <a:latin typeface="+mn-lt"/>
                        </a:rPr>
                        <a:t> — part of Oracle’s DB engine.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788933"/>
                  </a:ext>
                </a:extLst>
              </a:tr>
              <a:tr h="6925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+mn-lt"/>
                        </a:rPr>
                        <a:t>Persistence</a:t>
                      </a:r>
                      <a:endParaRPr lang="en-IN" sz="1600" dirty="0">
                        <a:latin typeface="+mn-lt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+mn-lt"/>
                        </a:rPr>
                        <a:t>Not persistent by default. You must save and reload indexes manually.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n-lt"/>
                        </a:rPr>
                        <a:t>Fully persistent — stored and indexed inside Oracle. Survives restarts and integrates with SQL queries.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903910"/>
                  </a:ext>
                </a:extLst>
              </a:tr>
              <a:tr h="6925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+mn-lt"/>
                        </a:rPr>
                        <a:t>Indexing and Search</a:t>
                      </a:r>
                      <a:endParaRPr lang="en-IN" sz="1600">
                        <a:latin typeface="+mn-lt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+mn-lt"/>
                        </a:rPr>
                        <a:t>Offers multiple index types (Flat, HNSW, IVF, PQ) for fast approximate nearest neighbor search.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n-lt"/>
                        </a:rPr>
                        <a:t>Uses </a:t>
                      </a:r>
                      <a:r>
                        <a:rPr lang="en-US" sz="1600" b="1">
                          <a:latin typeface="+mn-lt"/>
                        </a:rPr>
                        <a:t>Oracle Vector Index</a:t>
                      </a:r>
                      <a:r>
                        <a:rPr lang="en-US" sz="1600">
                          <a:latin typeface="+mn-lt"/>
                        </a:rPr>
                        <a:t> (based on HNSW/IVF under the hood) managed by Oracle itself.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086160"/>
                  </a:ext>
                </a:extLst>
              </a:tr>
              <a:tr h="5327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+mn-lt"/>
                        </a:rPr>
                        <a:t>Query Language</a:t>
                      </a:r>
                      <a:endParaRPr lang="en-IN" sz="1600">
                        <a:latin typeface="+mn-lt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n-lt"/>
                        </a:rPr>
                        <a:t>Python API (index.search(vectors, k)).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n-lt"/>
                        </a:rPr>
                        <a:t>Standard </a:t>
                      </a:r>
                      <a:r>
                        <a:rPr lang="en-US" sz="1600" b="1">
                          <a:latin typeface="+mn-lt"/>
                        </a:rPr>
                        <a:t>SQL syntax</a:t>
                      </a:r>
                      <a:r>
                        <a:rPr lang="en-US" sz="1600">
                          <a:latin typeface="+mn-lt"/>
                        </a:rPr>
                        <a:t> — e.g. SELECT ... ORDER BY VECTOR_DISTANCE(...).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537402"/>
                  </a:ext>
                </a:extLst>
              </a:tr>
              <a:tr h="5327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+mn-lt"/>
                        </a:rPr>
                        <a:t>Integration</a:t>
                      </a:r>
                      <a:endParaRPr lang="en-IN" sz="1600">
                        <a:latin typeface="+mn-lt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n-lt"/>
                        </a:rPr>
                        <a:t>Standalone — often paired with frameworks like LangChain, Chroma, etc.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n-lt"/>
                        </a:rPr>
                        <a:t>Deeply integrated with </a:t>
                      </a:r>
                      <a:r>
                        <a:rPr lang="en-US" sz="1600" b="1">
                          <a:latin typeface="+mn-lt"/>
                        </a:rPr>
                        <a:t>Oracle SQL, PL/SQL, and AI features</a:t>
                      </a:r>
                      <a:r>
                        <a:rPr lang="en-US" sz="1600">
                          <a:latin typeface="+mn-lt"/>
                        </a:rPr>
                        <a:t> (e.g., JSON, Text, Graph, etc.).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7817780"/>
                  </a:ext>
                </a:extLst>
              </a:tr>
              <a:tr h="5327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+mn-lt"/>
                        </a:rPr>
                        <a:t>Best for</a:t>
                      </a:r>
                      <a:endParaRPr lang="en-IN" sz="1600">
                        <a:latin typeface="+mn-lt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n-lt"/>
                        </a:rPr>
                        <a:t>Lightweight local/vector-only projects or prototyping.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n-lt"/>
                        </a:rPr>
                        <a:t>Enterprise-grade production systems needing </a:t>
                      </a:r>
                      <a:r>
                        <a:rPr lang="en-US" sz="1600" b="1">
                          <a:latin typeface="+mn-lt"/>
                        </a:rPr>
                        <a:t>AI + data integration</a:t>
                      </a:r>
                      <a:r>
                        <a:rPr lang="en-US" sz="1600">
                          <a:latin typeface="+mn-lt"/>
                        </a:rPr>
                        <a:t> + security.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378762"/>
                  </a:ext>
                </a:extLst>
              </a:tr>
              <a:tr h="5327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+mn-lt"/>
                        </a:rPr>
                        <a:t>Deployment</a:t>
                      </a:r>
                      <a:endParaRPr lang="en-IN" sz="1600">
                        <a:latin typeface="+mn-lt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</a:rPr>
                        <a:t>Runs in Python process.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+mn-lt"/>
                        </a:rPr>
                        <a:t>Runs inside Oracle 23ai — accessible via SQL, Python, REST, or LangChain.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6145838"/>
                  </a:ext>
                </a:extLst>
              </a:tr>
              <a:tr h="5327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+mn-lt"/>
                        </a:rPr>
                        <a:t>Example Usage</a:t>
                      </a:r>
                      <a:endParaRPr lang="en-IN" sz="1600">
                        <a:latin typeface="+mn-lt"/>
                      </a:endParaRP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>
                          <a:latin typeface="+mn-lt"/>
                        </a:rPr>
                        <a:t>FAISS.from_documents(docs, embeddings)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>
                          <a:latin typeface="+mn-lt"/>
                        </a:rPr>
                        <a:t>OracleVS.from_documents</a:t>
                      </a:r>
                      <a:r>
                        <a:rPr lang="en-IN" sz="1600" dirty="0">
                          <a:latin typeface="+mn-lt"/>
                        </a:rPr>
                        <a:t>(docs, embeddings, client=pool)</a:t>
                      </a:r>
                    </a:p>
                  </a:txBody>
                  <a:tcPr marL="39558" marR="39558" marT="19779" marB="197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302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60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E13F-5B21-9B29-2C66-DCE1DD0FA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C6E97-E9E5-9DDA-5CCB-F9BECAA6B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Same Use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55750-AC4E-0A33-4403-4A3288739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FAISS version</a:t>
            </a:r>
          </a:p>
          <a:p>
            <a:r>
              <a:rPr lang="en-US" dirty="0" err="1"/>
              <a:t>db</a:t>
            </a:r>
            <a:r>
              <a:rPr lang="en-US" dirty="0"/>
              <a:t> = </a:t>
            </a:r>
            <a:r>
              <a:rPr lang="en-US" dirty="0" err="1"/>
              <a:t>FAISS.from_documents</a:t>
            </a:r>
            <a:r>
              <a:rPr lang="en-US" dirty="0"/>
              <a:t>(docs, embeddings)</a:t>
            </a:r>
          </a:p>
          <a:p>
            <a:r>
              <a:rPr lang="en-US" dirty="0"/>
              <a:t>results = </a:t>
            </a:r>
            <a:r>
              <a:rPr lang="en-US" dirty="0" err="1"/>
              <a:t>db.similarity_search</a:t>
            </a:r>
            <a:r>
              <a:rPr lang="en-US" dirty="0"/>
              <a:t>("what is </a:t>
            </a:r>
            <a:r>
              <a:rPr lang="en-US" dirty="0" err="1"/>
              <a:t>LangChain</a:t>
            </a:r>
            <a:r>
              <a:rPr lang="en-US" dirty="0"/>
              <a:t>?")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7768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512C2-3074-C1F6-007D-15B59186E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9FD47-7FD1-6573-3160-5D4F8F0E6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456"/>
            <a:ext cx="10515600" cy="595750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Oracle Vector version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oracledb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langchain_community.vectorstores</a:t>
            </a:r>
            <a:r>
              <a:rPr lang="en-IN" dirty="0"/>
              <a:t> import </a:t>
            </a:r>
            <a:r>
              <a:rPr lang="en-IN" dirty="0" err="1"/>
              <a:t>OracleVS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langchain_community.vectorstores.utils</a:t>
            </a:r>
            <a:r>
              <a:rPr lang="en-IN" dirty="0"/>
              <a:t> import </a:t>
            </a:r>
            <a:r>
              <a:rPr lang="en-IN" dirty="0" err="1"/>
              <a:t>DistanceStrategy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client = </a:t>
            </a:r>
            <a:r>
              <a:rPr lang="en-IN" dirty="0" err="1"/>
              <a:t>oracledb.create_pool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user="student", password="</a:t>
            </a:r>
            <a:r>
              <a:rPr lang="en-IN" dirty="0" err="1"/>
              <a:t>apelix</a:t>
            </a:r>
            <a:r>
              <a:rPr lang="en-IN" dirty="0"/>
              <a:t>", </a:t>
            </a:r>
            <a:r>
              <a:rPr lang="en-IN" dirty="0" err="1"/>
              <a:t>dsn</a:t>
            </a:r>
            <a:r>
              <a:rPr lang="en-IN" dirty="0"/>
              <a:t>="localhost:1521/FREEPDB1"</a:t>
            </a:r>
          </a:p>
          <a:p>
            <a:pPr marL="0" indent="0">
              <a:buNone/>
            </a:pP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vector_store</a:t>
            </a:r>
            <a:r>
              <a:rPr lang="en-IN" dirty="0"/>
              <a:t> = </a:t>
            </a:r>
            <a:r>
              <a:rPr lang="en-IN" dirty="0" err="1"/>
              <a:t>OracleVS.from_documents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docs, embeddings, client=client,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table_name</a:t>
            </a:r>
            <a:r>
              <a:rPr lang="en-IN" dirty="0"/>
              <a:t>="LANGCHAIN_VSTORE",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distance_strategy</a:t>
            </a:r>
            <a:r>
              <a:rPr lang="en-IN" dirty="0"/>
              <a:t>=</a:t>
            </a:r>
            <a:r>
              <a:rPr lang="en-IN" dirty="0" err="1"/>
              <a:t>DistanceStrategy.COSINE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results = </a:t>
            </a:r>
            <a:r>
              <a:rPr lang="en-IN" dirty="0" err="1"/>
              <a:t>vector_store.similarity_search</a:t>
            </a:r>
            <a:r>
              <a:rPr lang="en-IN" dirty="0"/>
              <a:t>("what is </a:t>
            </a:r>
            <a:r>
              <a:rPr lang="en-IN" dirty="0" err="1"/>
              <a:t>LangChain</a:t>
            </a:r>
            <a:r>
              <a:rPr lang="en-IN" dirty="0"/>
              <a:t>?")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1141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B5595-BA05-DE8F-170D-2F24D605D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6577B-00D7-E60B-FDF0-43615EF49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When to Choose Which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A88386-8CFE-867E-01AC-3F98D256F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874813"/>
              </p:ext>
            </p:extLst>
          </p:nvPr>
        </p:nvGraphicFramePr>
        <p:xfrm>
          <a:off x="384048" y="1690688"/>
          <a:ext cx="10969752" cy="3819366"/>
        </p:xfrm>
        <a:graphic>
          <a:graphicData uri="http://schemas.openxmlformats.org/drawingml/2006/table">
            <a:tbl>
              <a:tblPr/>
              <a:tblGrid>
                <a:gridCol w="5290634">
                  <a:extLst>
                    <a:ext uri="{9D8B030D-6E8A-4147-A177-3AD203B41FA5}">
                      <a16:colId xmlns:a16="http://schemas.microsoft.com/office/drawing/2014/main" val="13429524"/>
                    </a:ext>
                  </a:extLst>
                </a:gridCol>
                <a:gridCol w="5679118">
                  <a:extLst>
                    <a:ext uri="{9D8B030D-6E8A-4147-A177-3AD203B41FA5}">
                      <a16:colId xmlns:a16="http://schemas.microsoft.com/office/drawing/2014/main" val="4240872531"/>
                    </a:ext>
                  </a:extLst>
                </a:gridCol>
              </a:tblGrid>
              <a:tr h="462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Scenario</a:t>
                      </a:r>
                      <a:endParaRPr lang="en-IN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Use</a:t>
                      </a:r>
                      <a:endParaRPr lang="en-IN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4021675"/>
                  </a:ext>
                </a:extLst>
              </a:tr>
              <a:tr h="462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Quick local prototyping / small projects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FAISS</a:t>
                      </a:r>
                      <a:r>
                        <a:rPr lang="en-IN" dirty="0"/>
                        <a:t> (simple, no DB setup)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735599"/>
                  </a:ext>
                </a:extLst>
              </a:tr>
              <a:tr h="810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Enterprise-grade RAG (Retrieval-Augmented Generation)</a:t>
                      </a:r>
                      <a:r>
                        <a:rPr lang="en-US" dirty="0"/>
                        <a:t> with existing business data in Oracle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Oracle 23ai Vector Search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807364"/>
                  </a:ext>
                </a:extLst>
              </a:tr>
              <a:tr h="810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Need transactional persistence, security, backups, or scalability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Oracle 23ai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9902995"/>
                  </a:ext>
                </a:extLst>
              </a:tr>
              <a:tr h="462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Need GPU-accelerated vector search in local dev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FAISS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486318"/>
                  </a:ext>
                </a:extLst>
              </a:tr>
              <a:tr h="810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Need SQL + Vector hybrid queries</a:t>
                      </a:r>
                      <a:r>
                        <a:rPr lang="en-IN"/>
                        <a:t> (like text + metadata filtering)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Oracle 23ai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838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3163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519</Words>
  <Application>Microsoft Office PowerPoint</Application>
  <PresentationFormat>Widescreen</PresentationFormat>
  <Paragraphs>66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FAISS vs Oracle 23ai Vector Store</vt:lpstr>
      <vt:lpstr>PowerPoint Presentation</vt:lpstr>
      <vt:lpstr>Example: Same Use Case</vt:lpstr>
      <vt:lpstr>PowerPoint Presentation</vt:lpstr>
      <vt:lpstr>When to Choose Which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kartheeba15@outlook.com</dc:creator>
  <cp:lastModifiedBy>kartheeba15@outlook.com</cp:lastModifiedBy>
  <cp:revision>5</cp:revision>
  <dcterms:created xsi:type="dcterms:W3CDTF">2025-10-13T14:41:18Z</dcterms:created>
  <dcterms:modified xsi:type="dcterms:W3CDTF">2025-10-29T16:21:34Z</dcterms:modified>
</cp:coreProperties>
</file>