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rts/chart2.xml" ContentType="application/vnd.openxmlformats-officedocument.drawingml.chart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rts/chart3.xml" ContentType="application/vnd.openxmlformats-officedocument.drawingml.chart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rts/chart4.xml" ContentType="application/vnd.openxmlformats-officedocument.drawingml.chart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rts/chart5.xml" ContentType="application/vnd.openxmlformats-officedocument.drawingml.chart+xml"/>
  <Override PartName="/ppt/notesSlides/notesSlide48.xml" ContentType="application/vnd.openxmlformats-officedocument.presentationml.notesSlide+xml"/>
  <Override PartName="/ppt/charts/chart6.xml" ContentType="application/vnd.openxmlformats-officedocument.drawingml.chart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1" d="100"/>
          <a:sy n="91" d="100"/>
        </p:scale>
        <p:origin x="560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Training Data Composition (GPT-3)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Data Sources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8BD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347-4329-B120-E5C3F5EDC4C9}"/>
              </c:ext>
            </c:extLst>
          </c:dPt>
          <c:dPt>
            <c:idx val="1"/>
            <c:bubble3D val="0"/>
            <c:spPr>
              <a:solidFill>
                <a:srgbClr val="FBBF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347-4329-B120-E5C3F5EDC4C9}"/>
              </c:ext>
            </c:extLst>
          </c:dPt>
          <c:dPt>
            <c:idx val="2"/>
            <c:bubble3D val="0"/>
            <c:spPr>
              <a:solidFill>
                <a:srgbClr val="34D3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347-4329-B120-E5C3F5EDC4C9}"/>
              </c:ext>
            </c:extLst>
          </c:dPt>
          <c:dPt>
            <c:idx val="3"/>
            <c:bubble3D val="0"/>
            <c:spPr>
              <a:solidFill>
                <a:srgbClr val="818C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347-4329-B120-E5C3F5EDC4C9}"/>
              </c:ext>
            </c:extLst>
          </c:dPt>
          <c:dPt>
            <c:idx val="4"/>
            <c:bubble3D val="0"/>
            <c:spPr>
              <a:solidFill>
                <a:srgbClr val="F871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347-4329-B120-E5C3F5EDC4C9}"/>
              </c:ext>
            </c:extLst>
          </c:dPt>
          <c:dPt>
            <c:idx val="5"/>
            <c:bubble3D val="0"/>
            <c:spPr>
              <a:solidFill>
                <a:srgbClr val="4755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347-4329-B120-E5C3F5EDC4C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347-4329-B120-E5C3F5EDC4C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347-4329-B120-E5C3F5EDC4C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347-4329-B120-E5C3F5EDC4C9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347-4329-B120-E5C3F5EDC4C9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347-4329-B120-E5C3F5EDC4C9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347-4329-B120-E5C3F5EDC4C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Common Crawl (Web)</c:v>
                </c:pt>
                <c:pt idx="1">
                  <c:v>Books</c:v>
                </c:pt>
                <c:pt idx="2">
                  <c:v>Wikipedia</c:v>
                </c:pt>
                <c:pt idx="3">
                  <c:v>GitHub Code</c:v>
                </c:pt>
                <c:pt idx="4">
                  <c:v>Academic Papers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</c:v>
                </c:pt>
                <c:pt idx="1">
                  <c:v>16</c:v>
                </c:pt>
                <c:pt idx="2">
                  <c:v>3</c:v>
                </c:pt>
                <c:pt idx="3">
                  <c:v>8</c:v>
                </c:pt>
                <c:pt idx="4">
                  <c:v>2</c:v>
                </c:pt>
                <c:pt idx="5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347-4329-B120-E5C3F5EDC4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Benchmark Scores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GPT-4o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MMLU</c:v>
                </c:pt>
                <c:pt idx="1">
                  <c:v>HumanEval</c:v>
                </c:pt>
                <c:pt idx="2">
                  <c:v>GSM8K</c:v>
                </c:pt>
                <c:pt idx="3">
                  <c:v>HellaSwag</c:v>
                </c:pt>
                <c:pt idx="4">
                  <c:v>TruthfulQA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87.8</c:v>
                </c:pt>
                <c:pt idx="1">
                  <c:v>90.2</c:v>
                </c:pt>
                <c:pt idx="2">
                  <c:v>95.3</c:v>
                </c:pt>
                <c:pt idx="3">
                  <c:v>95.3</c:v>
                </c:pt>
                <c:pt idx="4">
                  <c:v>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A6-4C65-AFA1-9737AFD2F6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Claude 3 Opus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MMLU</c:v>
                </c:pt>
                <c:pt idx="1">
                  <c:v>HumanEval</c:v>
                </c:pt>
                <c:pt idx="2">
                  <c:v>GSM8K</c:v>
                </c:pt>
                <c:pt idx="3">
                  <c:v>HellaSwag</c:v>
                </c:pt>
                <c:pt idx="4">
                  <c:v>TruthfulQA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86.8</c:v>
                </c:pt>
                <c:pt idx="1">
                  <c:v>84.9</c:v>
                </c:pt>
                <c:pt idx="2">
                  <c:v>95</c:v>
                </c:pt>
                <c:pt idx="3">
                  <c:v>95.4</c:v>
                </c:pt>
                <c:pt idx="4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A6-4C65-AFA1-9737AFD2F61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Llama 3 70B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MMLU</c:v>
                </c:pt>
                <c:pt idx="1">
                  <c:v>HumanEval</c:v>
                </c:pt>
                <c:pt idx="2">
                  <c:v>GSM8K</c:v>
                </c:pt>
                <c:pt idx="3">
                  <c:v>HellaSwag</c:v>
                </c:pt>
                <c:pt idx="4">
                  <c:v>TruthfulQA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82</c:v>
                </c:pt>
                <c:pt idx="1">
                  <c:v>81.7</c:v>
                </c:pt>
                <c:pt idx="2">
                  <c:v>93</c:v>
                </c:pt>
                <c:pt idx="3">
                  <c:v>88</c:v>
                </c:pt>
                <c:pt idx="4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6-4C65-AFA1-9737AFD2F6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Enterprise Adoption by Department (%)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AAB-4D9E-852C-E27E54722ED5}"/>
              </c:ext>
            </c:extLst>
          </c:dPt>
          <c:dPt>
            <c:idx val="1"/>
            <c:invertIfNegative val="0"/>
            <c:bubble3D val="0"/>
            <c:spPr>
              <a:solidFill>
                <a:srgbClr val="818C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AAB-4D9E-852C-E27E54722ED5}"/>
              </c:ext>
            </c:extLst>
          </c:dPt>
          <c:dPt>
            <c:idx val="2"/>
            <c:invertIfNegative val="0"/>
            <c:bubble3D val="0"/>
            <c:spPr>
              <a:solidFill>
                <a:srgbClr val="FBBF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AAB-4D9E-852C-E27E54722ED5}"/>
              </c:ext>
            </c:extLst>
          </c:dPt>
          <c:dPt>
            <c:idx val="3"/>
            <c:invertIfNegative val="0"/>
            <c:bubble3D val="0"/>
            <c:spPr>
              <a:solidFill>
                <a:srgbClr val="34D3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AAB-4D9E-852C-E27E54722ED5}"/>
              </c:ext>
            </c:extLst>
          </c:dPt>
          <c:dPt>
            <c:idx val="4"/>
            <c:invertIfNegative val="0"/>
            <c:bubble3D val="0"/>
            <c:spPr>
              <a:solidFill>
                <a:srgbClr val="F871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AAB-4D9E-852C-E27E54722ED5}"/>
              </c:ext>
            </c:extLst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AAB-4D9E-852C-E27E54722ED5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0AAB-4D9E-852C-E27E54722ED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IT &amp; Engineering</c:v>
                </c:pt>
                <c:pt idx="1">
                  <c:v>Customer Service</c:v>
                </c:pt>
                <c:pt idx="2">
                  <c:v>Marketing</c:v>
                </c:pt>
                <c:pt idx="3">
                  <c:v>Legal</c:v>
                </c:pt>
                <c:pt idx="4">
                  <c:v>HR</c:v>
                </c:pt>
                <c:pt idx="5">
                  <c:v>Finance</c:v>
                </c:pt>
                <c:pt idx="6">
                  <c:v>Operations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78</c:v>
                </c:pt>
                <c:pt idx="1">
                  <c:v>65</c:v>
                </c:pt>
                <c:pt idx="2">
                  <c:v>72</c:v>
                </c:pt>
                <c:pt idx="3">
                  <c:v>45</c:v>
                </c:pt>
                <c:pt idx="4">
                  <c:v>58</c:v>
                </c:pt>
                <c:pt idx="5">
                  <c:v>52</c:v>
                </c:pt>
                <c:pt idx="6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AAB-4D9E-852C-E27E54722E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Parameters → Performance (Power Law)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Loss</c:v>
                </c:pt>
              </c:strCache>
            </c:strRef>
          </c:tx>
          <c:spPr>
            <a:ln w="38100" cap="flat">
              <a:solidFill>
                <a:srgbClr val="38BDF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8BDF8"/>
              </a:solidFill>
              <a:ln w="9525" cap="flat">
                <a:solidFill>
                  <a:srgbClr val="38BDF8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1M</c:v>
                </c:pt>
                <c:pt idx="1">
                  <c:v>10M</c:v>
                </c:pt>
                <c:pt idx="2">
                  <c:v>100M</c:v>
                </c:pt>
                <c:pt idx="3">
                  <c:v>1B</c:v>
                </c:pt>
                <c:pt idx="4">
                  <c:v>10B</c:v>
                </c:pt>
                <c:pt idx="5">
                  <c:v>100B</c:v>
                </c:pt>
                <c:pt idx="6">
                  <c:v>1T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8.5</c:v>
                </c:pt>
                <c:pt idx="1">
                  <c:v>6.2</c:v>
                </c:pt>
                <c:pt idx="2">
                  <c:v>4.8</c:v>
                </c:pt>
                <c:pt idx="3">
                  <c:v>3.5</c:v>
                </c:pt>
                <c:pt idx="4">
                  <c:v>2.6</c:v>
                </c:pt>
                <c:pt idx="5">
                  <c:v>1.8</c:v>
                </c:pt>
                <c:pt idx="6">
                  <c:v>1.3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5D6-432F-A25E-8EA4FF7FB1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API Pricing Comparison ($/1M tokens)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Input ($/1M tokens)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GPT-4o</c:v>
                </c:pt>
                <c:pt idx="1">
                  <c:v>GPT-4 Turbo</c:v>
                </c:pt>
                <c:pt idx="2">
                  <c:v>Claude 3 Opus</c:v>
                </c:pt>
                <c:pt idx="3">
                  <c:v>Claude 3 Sonnet</c:v>
                </c:pt>
                <c:pt idx="4">
                  <c:v>Gemini 1.5 Pro</c:v>
                </c:pt>
                <c:pt idx="5">
                  <c:v>Llama 3 70B*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3</c:v>
                </c:pt>
                <c:pt idx="4">
                  <c:v>3.5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28-448D-BB79-83AA0FC2EB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Output ($/1M tokens)</c:v>
                </c:pt>
              </c:strCache>
            </c:strRef>
          </c:tx>
          <c:spPr>
            <a:solidFill>
              <a:srgbClr val="F8717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GPT-4o</c:v>
                </c:pt>
                <c:pt idx="1">
                  <c:v>GPT-4 Turbo</c:v>
                </c:pt>
                <c:pt idx="2">
                  <c:v>Claude 3 Opus</c:v>
                </c:pt>
                <c:pt idx="3">
                  <c:v>Claude 3 Sonnet</c:v>
                </c:pt>
                <c:pt idx="4">
                  <c:v>Gemini 1.5 Pro</c:v>
                </c:pt>
                <c:pt idx="5">
                  <c:v>Llama 3 70B*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</c:v>
                </c:pt>
                <c:pt idx="1">
                  <c:v>30</c:v>
                </c:pt>
                <c:pt idx="2">
                  <c:v>75</c:v>
                </c:pt>
                <c:pt idx="3">
                  <c:v>15</c:v>
                </c:pt>
                <c:pt idx="4">
                  <c:v>10.5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128-448D-BB79-83AA0FC2EB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Global GenAI Market (Billions USD)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GenAI Market ($B)</c:v>
                </c:pt>
              </c:strCache>
            </c:strRef>
          </c:tx>
          <c:spPr>
            <a:ln w="38100" cap="flat">
              <a:solidFill>
                <a:srgbClr val="34D39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4D399"/>
              </a:solidFill>
              <a:ln w="9525" cap="flat">
                <a:solidFill>
                  <a:srgbClr val="34D399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  <c:pt idx="7">
                  <c:v>2030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</c:v>
                </c:pt>
                <c:pt idx="1">
                  <c:v>21</c:v>
                </c:pt>
                <c:pt idx="2">
                  <c:v>45</c:v>
                </c:pt>
                <c:pt idx="3">
                  <c:v>66</c:v>
                </c:pt>
                <c:pt idx="4">
                  <c:v>93</c:v>
                </c:pt>
                <c:pt idx="5">
                  <c:v>130</c:v>
                </c:pt>
                <c:pt idx="6">
                  <c:v>175</c:v>
                </c:pt>
                <c:pt idx="7">
                  <c:v>280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8A3-4F37-A7BD-7839D8BC61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1767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E3A5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3152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&amp;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Deep Dive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3200400" cy="0"/>
          </a:xfrm>
          <a:prstGeom prst="line">
            <a:avLst/>
          </a:prstGeom>
          <a:noFill/>
          <a:ln w="25400">
            <a:solidFill>
              <a:srgbClr val="818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· Architecture · Applications · Future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160520" cy="530352"/>
          </a:xfrm>
          <a:prstGeom prst="roundRect">
            <a:avLst>
              <a:gd name="adj" fmla="val 2069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698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10789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Artificial Intelligence?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18488"/>
            <a:ext cx="4160520" cy="530352"/>
          </a:xfrm>
          <a:prstGeom prst="roundRect">
            <a:avLst>
              <a:gd name="adj" fmla="val 2069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2821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7373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Generative AI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76856"/>
            <a:ext cx="4160520" cy="530352"/>
          </a:xfrm>
          <a:prstGeom prst="roundRect">
            <a:avLst>
              <a:gd name="adj" fmla="val 2069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8658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3957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Large Language Models (LLMs)?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35224"/>
            <a:ext cx="4160520" cy="530352"/>
          </a:xfrm>
          <a:prstGeom prst="roundRect">
            <a:avLst>
              <a:gd name="adj" fmla="val 2069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0449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0540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Evolution of LLMs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93592"/>
            <a:ext cx="4160520" cy="530352"/>
          </a:xfrm>
          <a:prstGeom prst="roundRect">
            <a:avLst>
              <a:gd name="adj" fmla="val 2069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033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7124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LLMs Work – Architecture Deep Dive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251960"/>
            <a:ext cx="4160520" cy="530352"/>
          </a:xfrm>
          <a:prstGeom prst="roundRect">
            <a:avLst>
              <a:gd name="adj" fmla="val 2069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3616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43708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Process &amp; Data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960120"/>
            <a:ext cx="4160520" cy="530352"/>
          </a:xfrm>
          <a:prstGeom prst="roundRect">
            <a:avLst>
              <a:gd name="adj" fmla="val 2069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0698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10789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1618488"/>
            <a:ext cx="4160520" cy="530352"/>
          </a:xfrm>
          <a:prstGeom prst="roundRect">
            <a:avLst>
              <a:gd name="adj" fmla="val 2069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72821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17373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LLMs &amp; Comparisons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2276856"/>
            <a:ext cx="4160520" cy="530352"/>
          </a:xfrm>
          <a:prstGeom prst="roundRect">
            <a:avLst>
              <a:gd name="adj" fmla="val 2069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38658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0" y="23957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Across Industries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00600" y="2935224"/>
            <a:ext cx="4160520" cy="530352"/>
          </a:xfrm>
          <a:prstGeom prst="roundRect">
            <a:avLst>
              <a:gd name="adj" fmla="val 2069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0449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0" y="30540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Limitations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00600" y="3593592"/>
            <a:ext cx="4160520" cy="530352"/>
          </a:xfrm>
          <a:prstGeom prst="roundRect">
            <a:avLst>
              <a:gd name="adj" fmla="val 2069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7033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0" y="37124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Responsible AI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00600" y="4251960"/>
            <a:ext cx="4160520" cy="530352"/>
          </a:xfrm>
          <a:prstGeom prst="roundRect">
            <a:avLst>
              <a:gd name="adj" fmla="val 2069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43616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0" y="43708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of GenAI &amp; LLMs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5303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Artificial Intelligence?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8046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simulation of human intelligence processes by computer systems.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26060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4475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AI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for one task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spam filters, chess engines)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325880"/>
            <a:ext cx="260604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44475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AI (AGI)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29000" y="1828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Human-level reasoning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domains (future goal)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32588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325880"/>
            <a:ext cx="260604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44475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AI (ASI)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1828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Surpasses human intelligence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all areas (theoretical)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AI Subfields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6118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38221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data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356616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36118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01568" y="38221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356616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36118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36208" y="38221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understanding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2519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" y="44622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Image/video analysis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91840" y="420624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01568" y="42519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01568" y="44622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AI agents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26480" y="420624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42519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36208" y="44622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new content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Hierarchy – Where GenAI Fits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80160" y="1691640"/>
            <a:ext cx="6583680" cy="594360"/>
          </a:xfrm>
          <a:prstGeom prst="rect">
            <a:avLst/>
          </a:prstGeom>
          <a:solidFill>
            <a:srgbClr val="1A4A7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69164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57400" y="2377440"/>
            <a:ext cx="5029200" cy="594360"/>
          </a:xfrm>
          <a:prstGeom prst="rect">
            <a:avLst/>
          </a:prstGeom>
          <a:solidFill>
            <a:srgbClr val="1A6098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23774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34640" y="3063240"/>
            <a:ext cx="3474720" cy="594360"/>
          </a:xfrm>
          <a:prstGeom prst="rect">
            <a:avLst/>
          </a:prstGeom>
          <a:solidFill>
            <a:srgbClr val="0D7AB5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30632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66160" y="3749040"/>
            <a:ext cx="2011680" cy="59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37490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Broader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Narrower 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 is GenAI. Every GenAI is Deep Learning. Every Deep Learning is ML. Every ML is AI.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53035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Generative AI?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can CREATE new content — text, images, audio, video, code — rather than just classify existing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206240" cy="3474720"/>
          </a:xfrm>
          <a:prstGeom prst="roundRect">
            <a:avLst>
              <a:gd name="adj" fmla="val 3158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533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GenAI Can Generate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📝 Text  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801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23160" y="1801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Articles, stories, code, emails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24028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🖼 Images  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258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23160" y="2258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Paintings, photos, illustrations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69748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🎵 Audio  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715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23160" y="2715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Music, speech, sound effects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15468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🎬 Video  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172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23160" y="31729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Animations, clips, deepfakes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61188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💻 Code  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3630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23160" y="36301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apps, scripts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406908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🧪 Molecules  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4087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23160" y="4087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discovery, materials science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1234440"/>
            <a:ext cx="3840480" cy="1554480"/>
          </a:xfrm>
          <a:prstGeom prst="roundRect">
            <a:avLst>
              <a:gd name="adj" fmla="val 7059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13533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Discriminative AI vs Generative AI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171907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Discriminative: Classifies existing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 this a cat? YES / NO)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Generative: Creates new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(Draw me a cat wearing a hat)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2926080"/>
            <a:ext cx="3840480" cy="1783080"/>
          </a:xfrm>
          <a:prstGeom prst="roundRect">
            <a:avLst>
              <a:gd name="adj" fmla="val 6154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0358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GenAI Technologies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83480" y="34015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GPT / LLMs (Text)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36576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GANs (Images)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39136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VAEs (Images/Audio)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83480" y="41696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Diffusion Models (Images/Video)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83480" y="442569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Transformers (All modalities)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5303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Large Language Models (LLMs)?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8046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deep learning models trained on massive text datasets to understand and generate human language.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260604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80136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to trillions of parameters.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~1.8 trillion parameters.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234440"/>
            <a:ext cx="26060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180136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text: books, web,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conversations.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123444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234440"/>
            <a:ext cx="260604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0" y="180136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 predicting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tokens in sequence.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2834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LLM Thinks (Simply)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273552"/>
            <a:ext cx="1280160" cy="594360"/>
          </a:xfrm>
          <a:prstGeom prst="roundRect">
            <a:avLst>
              <a:gd name="adj" fmla="val 18462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1012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Text (Prompt)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755648" y="3566160"/>
            <a:ext cx="10058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74520" y="3273552"/>
            <a:ext cx="1280160" cy="594360"/>
          </a:xfrm>
          <a:prstGeom prst="roundRect">
            <a:avLst>
              <a:gd name="adj" fmla="val 18462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331012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72968" y="3566160"/>
            <a:ext cx="10058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3273552"/>
            <a:ext cx="1280160" cy="594360"/>
          </a:xfrm>
          <a:prstGeom prst="roundRect">
            <a:avLst>
              <a:gd name="adj" fmla="val 18462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331012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90288" y="3566160"/>
            <a:ext cx="10058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3273552"/>
            <a:ext cx="1280160" cy="594360"/>
          </a:xfrm>
          <a:prstGeom prst="roundRect">
            <a:avLst>
              <a:gd name="adj" fmla="val 18462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31012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via Transformer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07608" y="3566160"/>
            <a:ext cx="10058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3273552"/>
            <a:ext cx="1280160" cy="594360"/>
          </a:xfrm>
          <a:prstGeom prst="roundRect">
            <a:avLst>
              <a:gd name="adj" fmla="val 18462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331012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Tokens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24928" y="3566160"/>
            <a:ext cx="10058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43800" y="3273552"/>
            <a:ext cx="1280160" cy="594360"/>
          </a:xfrm>
          <a:prstGeom prst="roundRect">
            <a:avLst>
              <a:gd name="adj" fmla="val 18462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0" y="331012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Text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0050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 at a Glance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4343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175B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57200" y="47365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params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560320" y="4343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1.8T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2560320" y="47365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params (est.)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63440" y="4343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45TB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4663440" y="47365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training data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66560" y="4343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570GB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766560" y="47365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 common crawl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Evolution of LLMs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26280" y="1097280"/>
            <a:ext cx="201168" cy="201168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0332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0332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ELIZA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30759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chatbot using simple pattern matching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18304" y="1097280"/>
            <a:ext cx="201168" cy="201168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60120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10332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23560" y="10332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64608" y="130759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Networks introduced for sequences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26280" y="1901952"/>
            <a:ext cx="201168" cy="201168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764792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83794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18379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" y="21122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Short-Term Memory networks solve vanishing gradient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18304" y="1901952"/>
            <a:ext cx="201168" cy="201168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764792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183794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23560" y="18379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64608" y="21122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word embeddings revolution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26280" y="2706624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569464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26426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34440" y="26426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" y="291693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'Attention Is All You Need' paper changes everything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18304" y="2706624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569464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26426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23560" y="26426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&amp; GPT-1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64608" y="291693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+ fine-tuning paradigm emerges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26280" y="3511296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374136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34472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234440" y="34472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75488" y="372160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releases powerful text generator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18304" y="3511296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3374136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34472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623560" y="34472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64608" y="372160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175B parameters, few-shot learning, game changer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26280" y="4315968"/>
            <a:ext cx="201168" cy="20116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4178808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" y="4251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234440" y="42519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75488" y="45262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 users in 2 months — mass adoption begins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718304" y="4315968"/>
            <a:ext cx="201168" cy="20116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54880" y="4178808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64608" y="4251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623560" y="42519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+ Gemini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864608" y="45262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models, image+text understanding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526280" y="5120640"/>
            <a:ext cx="201168" cy="20116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5760" y="4983480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" y="50566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1234440" y="50566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 + Llama 3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75488" y="53309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&amp; frontier models compete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718304" y="5120640"/>
            <a:ext cx="201168" cy="20116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54880" y="4983480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64608" y="50566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2025+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623560" y="50566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Era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4864608" y="53309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as autonomous agents solving complex tasks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 Revolution (2017)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"Attention Is All You Need" – Vaswani et al. This paper eliminated RNNs and enabled massive parallelization.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828800" cy="457200"/>
          </a:xfrm>
          <a:prstGeom prst="rect">
            <a:avLst/>
          </a:prstGeom>
          <a:solidFill>
            <a:srgbClr val="475569">
              <a:alpha val="85000"/>
            </a:srgbClr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828800" cy="457200"/>
          </a:xfrm>
          <a:prstGeom prst="rect">
            <a:avLst/>
          </a:prstGeom>
          <a:solidFill>
            <a:srgbClr val="1E3A5F">
              <a:alpha val="85000"/>
            </a:srgbClr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Embeddings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468880"/>
            <a:ext cx="1828800" cy="457200"/>
          </a:xfrm>
          <a:prstGeom prst="rect">
            <a:avLst/>
          </a:prstGeom>
          <a:solidFill>
            <a:srgbClr val="1E3A5F">
              <a:alpha val="85000"/>
            </a:srgbClr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417320"/>
            <a:ext cx="2011680" cy="594360"/>
          </a:xfrm>
          <a:prstGeom prst="rect">
            <a:avLst/>
          </a:prstGeom>
          <a:solidFill>
            <a:srgbClr val="38BDF8">
              <a:alpha val="85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417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2331720"/>
            <a:ext cx="2011680" cy="594360"/>
          </a:xfrm>
          <a:prstGeom prst="rect">
            <a:avLst/>
          </a:prstGeom>
          <a:solidFill>
            <a:srgbClr val="818CF8">
              <a:alpha val="85000"/>
            </a:srgbClr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2331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Forward Network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06040" y="3154680"/>
            <a:ext cx="2011680" cy="457200"/>
          </a:xfrm>
          <a:prstGeom prst="rect">
            <a:avLst/>
          </a:prstGeom>
          <a:solidFill>
            <a:srgbClr val="475569">
              <a:alpha val="85000"/>
            </a:srgbClr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Layer Norm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2040" y="2331720"/>
            <a:ext cx="1828800" cy="594360"/>
          </a:xfrm>
          <a:prstGeom prst="rect">
            <a:avLst/>
          </a:prstGeom>
          <a:solidFill>
            <a:srgbClr val="FBBF24">
              <a:alpha val="85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331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Output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3154680"/>
            <a:ext cx="1828800" cy="457200"/>
          </a:xfrm>
          <a:prstGeom prst="rect">
            <a:avLst/>
          </a:prstGeom>
          <a:solidFill>
            <a:srgbClr val="34D399">
              <a:alpha val="85000"/>
            </a:srgbClr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154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Token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417320" y="1508760"/>
            <a:ext cx="0" cy="3657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17320" y="2331720"/>
            <a:ext cx="0" cy="137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31720" y="2606040"/>
            <a:ext cx="2743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31720" y="2606040"/>
            <a:ext cx="2743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03320" y="2624328"/>
            <a:ext cx="11887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03320" y="2624328"/>
            <a:ext cx="11887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1280160"/>
            <a:ext cx="2103120" cy="731520"/>
          </a:xfrm>
          <a:prstGeom prst="roundRect">
            <a:avLst>
              <a:gd name="adj" fmla="val 15000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13441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95160" y="15819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importance of each word relative to every other word. Captures long-range dependencies.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903720" y="2331720"/>
            <a:ext cx="2103120" cy="731520"/>
          </a:xfrm>
          <a:prstGeom prst="roundRect">
            <a:avLst>
              <a:gd name="adj" fmla="val 15000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23957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95160" y="26334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RNNs, Transformers process all tokens simultaneously → 100x faster training.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03720" y="3383280"/>
            <a:ext cx="2103120" cy="731520"/>
          </a:xfrm>
          <a:prstGeom prst="roundRect">
            <a:avLst>
              <a:gd name="adj" fmla="val 15000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3447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95160" y="36850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+ more parameters = better results. Enabled billions/trillions of params.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 – The Core Innovation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allows the model to focus on relevant words, regardless of distance in the sentence.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5331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"The animal didn't cross the street because it was too tired"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38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processing 'it', the attention model assigns weights to all words: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2331720"/>
            <a:ext cx="713232" cy="411480"/>
          </a:xfrm>
          <a:prstGeom prst="rect">
            <a:avLst/>
          </a:prstGeom>
          <a:solidFill>
            <a:srgbClr val="475569">
              <a:alpha val="18000"/>
            </a:srgbClr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233172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" y="278892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33856" y="2331720"/>
            <a:ext cx="713232" cy="411480"/>
          </a:xfrm>
          <a:prstGeom prst="rect">
            <a:avLst/>
          </a:prstGeom>
          <a:solidFill>
            <a:srgbClr val="FBBF24">
              <a:alpha val="87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233172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33856" y="278892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20240" y="2331720"/>
            <a:ext cx="713232" cy="411480"/>
          </a:xfrm>
          <a:prstGeom prst="rect">
            <a:avLst/>
          </a:prstGeom>
          <a:solidFill>
            <a:srgbClr val="475569">
              <a:alpha val="17000"/>
            </a:srgbClr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33172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didn't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920240" y="278892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06624" y="2331720"/>
            <a:ext cx="713232" cy="411480"/>
          </a:xfrm>
          <a:prstGeom prst="rect">
            <a:avLst/>
          </a:prstGeom>
          <a:solidFill>
            <a:srgbClr val="475569">
              <a:alpha val="18000"/>
            </a:srgbClr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06624" y="233172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06624" y="278892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93008" y="2331720"/>
            <a:ext cx="713232" cy="411480"/>
          </a:xfrm>
          <a:prstGeom prst="rect">
            <a:avLst/>
          </a:prstGeom>
          <a:solidFill>
            <a:srgbClr val="475569">
              <a:alpha val="16000"/>
            </a:srgbClr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93008" y="233172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93008" y="278892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79392" y="2331720"/>
            <a:ext cx="713232" cy="411480"/>
          </a:xfrm>
          <a:prstGeom prst="rect">
            <a:avLst/>
          </a:prstGeom>
          <a:solidFill>
            <a:srgbClr val="475569">
              <a:alpha val="16000"/>
            </a:srgbClr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9392" y="233172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79392" y="278892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65776" y="2331720"/>
            <a:ext cx="713232" cy="411480"/>
          </a:xfrm>
          <a:prstGeom prst="rect">
            <a:avLst/>
          </a:prstGeom>
          <a:solidFill>
            <a:srgbClr val="475569">
              <a:alpha val="16000"/>
            </a:srgbClr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65776" y="233172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65776" y="278892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52160" y="2331720"/>
            <a:ext cx="713232" cy="411480"/>
          </a:xfrm>
          <a:prstGeom prst="rect">
            <a:avLst/>
          </a:prstGeom>
          <a:solidFill>
            <a:srgbClr val="475569">
              <a:alpha val="16000"/>
            </a:srgbClr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233172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52160" y="278892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38544" y="2331720"/>
            <a:ext cx="713232" cy="411480"/>
          </a:xfrm>
          <a:prstGeom prst="rect">
            <a:avLst/>
          </a:prstGeom>
          <a:solidFill>
            <a:srgbClr val="475569">
              <a:alpha val="17000"/>
            </a:srgbClr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38544" y="233172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638544" y="278892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24928" y="2331720"/>
            <a:ext cx="713232" cy="411480"/>
          </a:xfrm>
          <a:prstGeom prst="rect">
            <a:avLst/>
          </a:prstGeom>
          <a:solidFill>
            <a:srgbClr val="475569">
              <a:alpha val="16000"/>
            </a:srgbClr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24928" y="233172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424928" y="278892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211312" y="2331720"/>
            <a:ext cx="713232" cy="411480"/>
          </a:xfrm>
          <a:prstGeom prst="rect">
            <a:avLst/>
          </a:prstGeom>
          <a:solidFill>
            <a:srgbClr val="475569">
              <a:alpha val="18000"/>
            </a:srgbClr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11312" y="2331720"/>
            <a:ext cx="713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211312" y="278892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3090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'it' refers to 'animal' (85% attention weight)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3474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Query, Key &amp; Value (Q, K, V)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57200" y="3822192"/>
            <a:ext cx="2651760" cy="82296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3913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(Q)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94360" y="42062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am I looking for?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91840" y="3822192"/>
            <a:ext cx="2651760" cy="82296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29000" y="3913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(K)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429000" y="42062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I contain?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126480" y="3822192"/>
            <a:ext cx="2651760" cy="82296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3913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(V)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263640" y="42062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 do I provide?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Attention(Q,K,V) = softmax(QKᵀ / √d_k) · V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– How LLMs Read Text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don't read words — they read TOKENS. A token is roughly 4 characters or ¾ of a word.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"ChatGPT is amazing!" → Tokens: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1005840" cy="365760"/>
          </a:xfrm>
          <a:prstGeom prst="rect">
            <a:avLst/>
          </a:prstGeom>
          <a:solidFill>
            <a:srgbClr val="38BDF8">
              <a:alpha val="50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642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64792" y="1664208"/>
            <a:ext cx="1005840" cy="365760"/>
          </a:xfrm>
          <a:prstGeom prst="rect">
            <a:avLst/>
          </a:prstGeom>
          <a:solidFill>
            <a:srgbClr val="818CF8">
              <a:alpha val="50000"/>
            </a:srgbClr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64792" y="16642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89504" y="1664208"/>
            <a:ext cx="1005840" cy="365760"/>
          </a:xfrm>
          <a:prstGeom prst="rect">
            <a:avLst/>
          </a:prstGeom>
          <a:solidFill>
            <a:srgbClr val="FBBF24">
              <a:alpha val="5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9504" y="16642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14216" y="1664208"/>
            <a:ext cx="1005840" cy="365760"/>
          </a:xfrm>
          <a:prstGeom prst="rect">
            <a:avLst/>
          </a:prstGeom>
          <a:solidFill>
            <a:srgbClr val="34D399">
              <a:alpha val="50000"/>
            </a:srgbClr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14216" y="16642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38928" y="1664208"/>
            <a:ext cx="1005840" cy="365760"/>
          </a:xfrm>
          <a:prstGeom prst="rect">
            <a:avLst/>
          </a:prstGeom>
          <a:solidFill>
            <a:srgbClr val="F87171">
              <a:alpha val="50000"/>
            </a:srgbClr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38928" y="16642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amaz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664208"/>
            <a:ext cx="1005840" cy="365760"/>
          </a:xfrm>
          <a:prstGeom prst="rect">
            <a:avLst/>
          </a:prstGeom>
          <a:solidFill>
            <a:srgbClr val="38BDF8">
              <a:alpha val="50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6642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88352" y="1664208"/>
            <a:ext cx="1005840" cy="365760"/>
          </a:xfrm>
          <a:prstGeom prst="rect">
            <a:avLst/>
          </a:prstGeom>
          <a:solidFill>
            <a:srgbClr val="818CF8">
              <a:alpha val="50000"/>
            </a:srgbClr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88352" y="16642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2103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Tokens (IDs: 15989, 38, 2898, 318, 4998, 278, 0)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2542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Tokenization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926080"/>
            <a:ext cx="265176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063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Word-level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3401568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spaces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'hello world' → ['hello', 'world']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huge vocabulary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91840" y="292608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2926080"/>
            <a:ext cx="265176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3063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Character-level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29000" y="3401568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char per token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'hi' → ['h', 'i']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very long sequences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292608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2926080"/>
            <a:ext cx="265176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063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Subword (BPE)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63640" y="3401568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Pair Encoding — used by GPT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'unhappy' → ['un', 'happy']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balance vocab &amp; length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5720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Window: The maximum number of tokens a model can process at once.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= 128K tokens (~96,000 words) | Claude 3 = 200K tokens | Gemini 1.5 = 1M tokens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– Meaning in Numbers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convert words/tokens into high-dimensional vectors where similar meanings are close together.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Vector Space (2D projection)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356616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37360"/>
            <a:ext cx="0" cy="265176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2103120"/>
            <a:ext cx="164592" cy="16459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27248" y="2057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2560320"/>
            <a:ext cx="164592" cy="16459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44368" y="2514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214884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04288" y="2103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20240" y="2606040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21408" y="2560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0" y="3474720"/>
            <a:ext cx="164592" cy="16459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72768" y="34290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37360" y="3200400"/>
            <a:ext cx="164592" cy="16459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38528" y="3154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3749040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3703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66160" y="3657600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67328" y="3611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23444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Famous Word Analogy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167335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− Man + Woman = Queen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− France + Italy = Rome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arithmetic works in embedding space!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2743200"/>
            <a:ext cx="3931920" cy="1965960"/>
          </a:xfrm>
          <a:prstGeom prst="roundRect">
            <a:avLst>
              <a:gd name="adj" fmla="val 5581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8529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Embeddings are Used in LLMs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3200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Token → integer ID (e.g., 'cat' = 2274)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2040" y="3493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 → embedding vector [0.21, -0.85, 0.12, ...]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37856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Vector carries semantic meaning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92040" y="40782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Transformer operates on these vectors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92040" y="4370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Output vectors → token probabilities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Training Process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 LLM is a multi-stage process requiring massive compute, data, and expertise.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713232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53896"/>
            <a:ext cx="320040" cy="3200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538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618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Terabytes of text from web, books, Wikipedia, GitHub, etc.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4023360" cy="713232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322576"/>
            <a:ext cx="320040" cy="32004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225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194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487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filter, deduplicate, tokenize data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4023360" cy="713232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191256"/>
            <a:ext cx="320040" cy="3200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912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063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3558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Next-token prediction on all data (months of GPU compute)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1234440"/>
            <a:ext cx="4023360" cy="713232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1453896"/>
            <a:ext cx="320040" cy="3200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4538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5780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(SFT)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57800" y="1618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training on curated instruction-response pairs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2103120"/>
            <a:ext cx="4023360" cy="713232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2322576"/>
            <a:ext cx="320040" cy="3200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3225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2194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2487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from Human Feedback — align with human preferences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2971800"/>
            <a:ext cx="4023360" cy="713232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3191256"/>
            <a:ext cx="320040" cy="3200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1912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57800" y="3063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57800" y="33558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served via API, safety testing, red-teaming, monitoring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468880" y="1591056"/>
            <a:ext cx="0" cy="512064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68880" y="2459736"/>
            <a:ext cx="0" cy="512064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886200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3950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Pipeline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8640" y="4251960"/>
            <a:ext cx="1234440" cy="502920"/>
          </a:xfrm>
          <a:prstGeom prst="roundRect">
            <a:avLst>
              <a:gd name="adj" fmla="val 21818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427939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801368" y="4498848"/>
            <a:ext cx="11887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38528" y="4251960"/>
            <a:ext cx="1234440" cy="502920"/>
          </a:xfrm>
          <a:prstGeom prst="roundRect">
            <a:avLst>
              <a:gd name="adj" fmla="val 21818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84248" y="427939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Responses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191256" y="4498848"/>
            <a:ext cx="11887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28416" y="4251960"/>
            <a:ext cx="1234440" cy="502920"/>
          </a:xfrm>
          <a:prstGeom prst="roundRect">
            <a:avLst>
              <a:gd name="adj" fmla="val 21818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74136" y="427939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Rankers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81144" y="4498848"/>
            <a:ext cx="11887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18304" y="4251960"/>
            <a:ext cx="1234440" cy="502920"/>
          </a:xfrm>
          <a:prstGeom prst="roundRect">
            <a:avLst>
              <a:gd name="adj" fmla="val 21818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64024" y="427939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971032" y="4498848"/>
            <a:ext cx="11887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08192" y="4251960"/>
            <a:ext cx="1234440" cy="502920"/>
          </a:xfrm>
          <a:prstGeom prst="roundRect">
            <a:avLst>
              <a:gd name="adj" fmla="val 21818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53912" y="427939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360920" y="4498848"/>
            <a:ext cx="11887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498080" y="4251960"/>
            <a:ext cx="1234440" cy="502920"/>
          </a:xfrm>
          <a:prstGeom prst="roundRect">
            <a:avLst>
              <a:gd name="adj" fmla="val 21818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43800" y="427939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– Teaching the World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teaches the model about language, facts, reasoning — by predicting the next word billions of times.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88720"/>
          <a:ext cx="45720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212080" y="118872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49240" y="13258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Scale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349240" y="17190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49240" y="196596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175B (GPT-3)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949440" y="196596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1.8T (GPT-4 est.)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349240" y="22494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Tokens: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349240" y="24963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300B (GPT-3)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949440" y="249631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13T (Llama 2)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349240" y="27797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Hours: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349240" y="302666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~3,640 V100s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949440" y="302666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months compute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349240" y="33101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Cost: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349240" y="355701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GPT-3: $4.6M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949440" y="355701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GPT-4: ~$100M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4251960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4315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Next-Token Prediction (Self-Supervised Learning):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4360" y="46177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'The Eiffel Tower is in [MASK]'  →  Model predicts: 'Paris' (learns from billions of examples like this)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&amp; Alignment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pre-training, models are specialized for tasks and aligned with human values.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1691640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39776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70992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ALL model weights on task-specific data.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but most powerful.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350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Best performance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2350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Requires lots of compute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3977640" cy="1691640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234440"/>
            <a:ext cx="397764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170992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Low-Rank Adaptation: only add small trainable matrices.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base model frozen.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0" y="2350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10-100x more efficient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12280" y="2350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Slightly less capable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3977640" cy="1691640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154680"/>
            <a:ext cx="397764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291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36301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Parameter-Efficient Fine-Tuning: update &lt;1% of weights.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tuning, prefix tuning.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4270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Very fast, cheap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68880" y="4270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Limited customization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3154680"/>
            <a:ext cx="3977640" cy="1691640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3154680"/>
            <a:ext cx="397764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291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937760" y="36301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raters compare responses. Train reward model.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RL to maximize reward.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37760" y="4270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Human-aligned outputs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12280" y="4270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Complex, expensive pipeline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5303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8046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and science of crafting inputs to get the best outputs from LLMs.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73352"/>
            <a:ext cx="242316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709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"Translate to French: Hello"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2331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examples given. Model uses only instructions.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2344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325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0" y="1673352"/>
            <a:ext cx="242316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1709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"Q: 2+2? A: 4. Q: 3+3? A: 6. Q: 4+4?"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29000" y="2148840"/>
            <a:ext cx="2331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examples guide the model's format/behavior.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2344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325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1673352"/>
            <a:ext cx="242316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1709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"Let's think step by step..."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63640" y="2148840"/>
            <a:ext cx="2331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reasoning before giving final answer.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8803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Prompting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319272"/>
            <a:ext cx="242316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33558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an expert Python developer..."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360" y="3794760"/>
            <a:ext cx="2331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persona to improve domain expertise.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28803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of Thoughts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83280" y="3319272"/>
            <a:ext cx="242316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47288" y="33558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multiple reasoning paths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29000" y="3794760"/>
            <a:ext cx="2331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evaluates several reasoning branches.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28803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17920" y="3319272"/>
            <a:ext cx="242316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81928" y="33558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+ Act interleaved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63640" y="3794760"/>
            <a:ext cx="2331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reasoning with tool use actions.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LLMs – Landscape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576072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64008" cy="5760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23160" y="1115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0" y="1115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~1.8T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89320" y="11155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Ctx: 128K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23760" y="11155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Image, Audio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627632"/>
            <a:ext cx="8412480" cy="576072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627632"/>
            <a:ext cx="64008" cy="57607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764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23160" y="1783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0" y="1783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~Unknown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9320" y="17830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Ctx: 200K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23760" y="17830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Image, PDF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295144"/>
            <a:ext cx="8412480" cy="576072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295144"/>
            <a:ext cx="64008" cy="5760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4323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Pro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423160" y="2450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97680" y="2450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~Unknown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89320" y="2450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Ctx: 1M tokens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23760" y="245059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Image, Video, Audio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962656"/>
            <a:ext cx="8412480" cy="576072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962656"/>
            <a:ext cx="64008" cy="5760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099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70B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423160" y="31181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(Open)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97680" y="31181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70B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89320" y="31181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Ctx: 8K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0" y="311810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630168"/>
            <a:ext cx="8412480" cy="576072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630168"/>
            <a:ext cx="64008" cy="57607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423160" y="3785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297680" y="37856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~120B est.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89320" y="37856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Ctx: 32K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23760" y="378561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Code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297680"/>
            <a:ext cx="8412480" cy="576072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4297680"/>
            <a:ext cx="64008" cy="5760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R+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2423160" y="4453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297680" y="4453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104B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89320" y="4453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Ctx: 128K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223760" y="445312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RAG-optimized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4937760"/>
            <a:ext cx="8412480" cy="18288"/>
          </a:xfrm>
          <a:prstGeom prst="roundRect">
            <a:avLst>
              <a:gd name="adj" fmla="val 600000"/>
            </a:avLst>
          </a:prstGeom>
          <a:solidFill>
            <a:srgbClr val="475569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vs Proprietary LLMs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3931920"/>
          </a:xfrm>
          <a:prstGeom prst="roundRect">
            <a:avLst>
              <a:gd name="adj" fmla="val 2791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Free to use and modify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47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control &amp; privacy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579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Can run locally (Ollama, vLLM)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Community driven improvements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797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Customizable for specific domains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090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Requires technical expertise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401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Self-hosting infrastructure costs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7124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Slightly behind frontier models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3342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Llama 3, Mistral, Falcon,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Gemma, Phi-3, DeepSeek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023360" cy="3931920"/>
          </a:xfrm>
          <a:prstGeom prst="roundRect">
            <a:avLst>
              <a:gd name="adj" fmla="val 2791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005840"/>
            <a:ext cx="402336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46320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State-of-the-art performance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1847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Easy API access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1579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Managed infrastructure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Continuous improvement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7797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Enterprise SLAs &amp; support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090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Pay per token costs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401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Data privacy concerns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7124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Vendor lock-in risk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43342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GPT-4o, Claude 3,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1.5, Cohere Command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9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34D399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Across Industries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 transforming every industry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5303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Life Sciences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789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Notes Summarization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8105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dictate notes; LLMs create structured EHR entries automatically, saving 2+ hours/day.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0789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💊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29000" y="14630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Discovery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8105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 &amp; generative models predict protein structures, reducing drug discovery from 12 years to 2-3 years.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0789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🏥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63640" y="14630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8105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LLMs analyze X-rays, MRIs, CT scans and generate radiology reports.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724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" y="31089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Q&amp;A Chatbots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4564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symptom checkers, appointment scheduling, and post-care follow-up.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91840" y="26517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2724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🧬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29000" y="31089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Genomics &amp; Precision Medicine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29000" y="34564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patient DNA to recommend personalized treatment plans.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26517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2724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63640" y="31089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Literature Review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34564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thousands of research papers to find relevant clinical evidence.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5303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Banking Applications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789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8105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transaction patterns in real-time and explain suspicious activity in plain English.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0789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29000" y="14630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Research Reports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8105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GPT: Summarize earnings calls, generate analyst reports from financial data instantly.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0789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🏦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63640" y="14630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8105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complex banking queries 24/7 with context-aware, policy-compliant responses.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724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" y="31089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Analysis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4564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loan agreements, identify risks, extract key clauses — 10x faster than human review.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91840" y="26517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2724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29000" y="31089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Management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29000" y="34564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market commentary, risk assessments, and personalized investment summaries.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26517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2724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63640" y="31089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&amp; Compliance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34564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know-your-customer checks, regulatory filings, and compliance documentation.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53035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&amp; E-Learning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789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Tutoring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8105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 Academy's Khanmigo adapts explanations to each student's level and learning style.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0789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✍️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29000" y="14630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 Feedback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8105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writing feedback on structure, grammar, argumentation — available instantly 24/7.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0789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63640" y="14630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Generation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8105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create lesson plans, quizzes, worksheets, and presentations in minutes.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724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" y="31089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Learning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4564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 Max: AI conversation practice, mistake explanations in real native contexts.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91840" y="26517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2724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♿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29000" y="31089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29000" y="34564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complex textbooks to simple language for students with learning differences.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26517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2724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63640" y="31089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34564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review, citation management, summarization of academic papers.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5303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77640" cy="1143000"/>
          </a:xfrm>
          <a:prstGeom prst="roundRect">
            <a:avLst>
              <a:gd name="adj" fmla="val 96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83280" y="11430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faster coding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Auto-complete entire functions, generates unit tests, explains code.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051560"/>
            <a:ext cx="3977640" cy="1143000"/>
          </a:xfrm>
          <a:prstGeom prst="roundRect">
            <a:avLst>
              <a:gd name="adj" fmla="val 96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1430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AI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26680" y="11430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productivity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IDE with multi-file context, automated refactoring.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3977640" cy="1143000"/>
          </a:xfrm>
          <a:prstGeom prst="roundRect">
            <a:avLst>
              <a:gd name="adj" fmla="val 96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514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CodeWhisperer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5146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task complete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88036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Security-aware code gen, flags vulnerabilities in real-time.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423160"/>
            <a:ext cx="3977640" cy="1143000"/>
          </a:xfrm>
          <a:prstGeom prst="roundRect">
            <a:avLst>
              <a:gd name="adj" fmla="val 96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514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 AI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26680" y="25146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needed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88036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full apps from natural language prompts, instant deployment.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9136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 Flow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279392"/>
            <a:ext cx="150876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4315968"/>
            <a:ext cx="1380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84248" y="4608576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21408" y="4279392"/>
            <a:ext cx="150876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85416" y="4315968"/>
            <a:ext cx="1380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48456" y="4608576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85616" y="4279392"/>
            <a:ext cx="150876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9624" y="4315968"/>
            <a:ext cx="1380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12664" y="4608576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49824" y="4279392"/>
            <a:ext cx="150876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4315968"/>
            <a:ext cx="1380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Explanation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76872" y="4608576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14032" y="4279392"/>
            <a:ext cx="150876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78040" y="4315968"/>
            <a:ext cx="1380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97764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Contract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53619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Harvey AI &amp; LexisNexis review 1000s of contracts in hours vs. weeks, flagging risks and inconsistencies.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00600" y="1005840"/>
            <a:ext cx="397764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005840"/>
            <a:ext cx="397764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Legal Research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53619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synthesize case law across millions of documents in seconds. Casetext (acquired by Thomson Reuters).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397764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834640"/>
            <a:ext cx="397764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Document Drafting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36499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first drafts of NDAs, employment contracts, terms of service with jurisdiction-aware clauses.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00600" y="2834640"/>
            <a:ext cx="397764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834640"/>
            <a:ext cx="397764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Compliance Monitoring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36499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regulatory changes (GDPR, SEC filings, FDA guidance) and flag potential compliance gaps.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&amp; Sales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transforming customer interactions from scripted chatbots to intelligent, empathetic agents.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901952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98448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support ops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42032" y="1234440"/>
            <a:ext cx="1901952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42032" y="1298448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542032" y="18288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resolved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humans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26864" y="1234440"/>
            <a:ext cx="1901952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1298448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26864" y="18288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response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11696" y="1234440"/>
            <a:ext cx="1901952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1696" y="1298448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11696" y="18288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514600"/>
            <a:ext cx="3977640" cy="667512"/>
          </a:xfrm>
          <a:prstGeom prst="roundRect">
            <a:avLst>
              <a:gd name="adj" fmla="val 16438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587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Omnichannel Support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28620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AI handles email, chat, voice, WhatsApp simultaneously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2514600"/>
            <a:ext cx="3977640" cy="667512"/>
          </a:xfrm>
          <a:prstGeom prst="roundRect">
            <a:avLst>
              <a:gd name="adj" fmla="val 16438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587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8620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frustrated customers and escalate to human agents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319272"/>
            <a:ext cx="3977640" cy="667512"/>
          </a:xfrm>
          <a:prstGeom prst="roundRect">
            <a:avLst>
              <a:gd name="adj" fmla="val 16438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3924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36667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products based on customer history and preferences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319272"/>
            <a:ext cx="3977640" cy="667512"/>
          </a:xfrm>
          <a:prstGeom prst="roundRect">
            <a:avLst>
              <a:gd name="adj" fmla="val 16438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3924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Coaching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6667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suggestions for sales reps during calls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123944"/>
            <a:ext cx="3977640" cy="667512"/>
          </a:xfrm>
          <a:prstGeom prst="roundRect">
            <a:avLst>
              <a:gd name="adj" fmla="val 16438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1970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&amp; Refunds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" y="44714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resolution for routine cases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00600" y="4123944"/>
            <a:ext cx="3977640" cy="667512"/>
          </a:xfrm>
          <a:prstGeom prst="roundRect">
            <a:avLst>
              <a:gd name="adj" fmla="val 16438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41970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44714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conversational IVR replacing press-1 menus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Industries &amp; Media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178308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15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&amp; Publishing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536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Novel &amp; story generation (Sudowrite)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8379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Screenplay assistance (Final Draft AI)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39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Automated journalism (AP, Reuters)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441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Personalized book recommendations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3977640" cy="178308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115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Marketing &amp; Advertising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536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 copy generation (Jasper, Copy.ai)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8379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A/B testing hundreds of variants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139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Personalized email campaigns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441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SEO content at scale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3977640" cy="178308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27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 Music &amp; Audio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547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Music composition (Suno, Udio)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8496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Lyrics writing assistance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4151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Podcast transcript &amp; summaries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44531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Voice cloning &amp; dubbing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017520"/>
            <a:ext cx="3977640" cy="178308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127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Gaming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547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Dynamic NPC dialogue generation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8496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Procedural game narrative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4151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Player behavior analysis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44531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Asset description &amp; worldbuilding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– Retrieval-Augmented Generation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combines LLMs with external knowledge bases to provide accurate, up-to-date, and source-cited answers.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2331720" cy="64008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4173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2331720"/>
            <a:ext cx="2331720" cy="64008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3317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Embedding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34640" y="1691640"/>
            <a:ext cx="2331720" cy="64008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691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(Pinecone, Weaviate)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34640" y="2880360"/>
            <a:ext cx="2331720" cy="64008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28803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(Top-K)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0" y="2148840"/>
            <a:ext cx="2331720" cy="64008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2148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with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Context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3246120"/>
            <a:ext cx="2331720" cy="64008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32461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Sources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481328" y="1737360"/>
            <a:ext cx="0" cy="5943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651760"/>
            <a:ext cx="135331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1328" y="2057400"/>
            <a:ext cx="135331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86784" y="3200400"/>
            <a:ext cx="149961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86784" y="2029968"/>
            <a:ext cx="149961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4069080"/>
            <a:ext cx="8503920" cy="914400"/>
          </a:xfrm>
          <a:prstGeom prst="roundRect">
            <a:avLst>
              <a:gd name="adj" fmla="val 12000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60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 Matters: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5079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hallucinations on factual Q&amp;A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78608" y="45079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Always up-to-date (no retraining)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0016" y="45079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Source citations for trust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21424" y="45079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Works with private company data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– LLMs That Take Action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use LLMs as a reasoning engine to plan, use tools, and execute multi-step tasks autonomously.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258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Goal/Task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55648" y="1691640"/>
            <a:ext cx="51206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132588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3258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10128" y="1691640"/>
            <a:ext cx="51206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32588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3258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64608" y="1691640"/>
            <a:ext cx="51206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132588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3258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19088" y="1691640"/>
            <a:ext cx="51206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132588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13258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73568" y="1691640"/>
            <a:ext cx="0" cy="6400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331720"/>
            <a:ext cx="75163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1691640"/>
            <a:ext cx="0" cy="6400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377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Loop until task complete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788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Tool Arsenal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182112"/>
            <a:ext cx="2606040" cy="438912"/>
          </a:xfrm>
          <a:prstGeom prst="roundRect">
            <a:avLst>
              <a:gd name="adj" fmla="val 25000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735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Web Search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28800" y="329184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internet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3182112"/>
            <a:ext cx="2606040" cy="438912"/>
          </a:xfrm>
          <a:prstGeom prst="roundRect">
            <a:avLst>
              <a:gd name="adj" fmla="val 25000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2735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Code Exec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329184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Python/JS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182112"/>
            <a:ext cx="2606040" cy="438912"/>
          </a:xfrm>
          <a:prstGeom prst="roundRect">
            <a:avLst>
              <a:gd name="adj" fmla="val 25000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32735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Email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0" y="329184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messages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712464"/>
            <a:ext cx="2606040" cy="438912"/>
          </a:xfrm>
          <a:prstGeom prst="roundRect">
            <a:avLst>
              <a:gd name="adj" fmla="val 25000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8039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Database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828800" y="382219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data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91840" y="3712464"/>
            <a:ext cx="2606040" cy="438912"/>
          </a:xfrm>
          <a:prstGeom prst="roundRect">
            <a:avLst>
              <a:gd name="adj" fmla="val 25000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0" y="38039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Files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63440" y="382219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files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3712464"/>
            <a:ext cx="2606040" cy="438912"/>
          </a:xfrm>
          <a:prstGeom prst="roundRect">
            <a:avLst>
              <a:gd name="adj" fmla="val 25000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38039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APIs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98080" y="382219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315968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407408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Agent Frameworks: AutoGPT, LangChain Agents, CrewAI, AutoGen, Claude Computer Use, OpenAI Assistants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LLMs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models understand and generate across text, images, audio, and video simultaneously.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566160" y="1965960"/>
            <a:ext cx="2011680" cy="1097280"/>
          </a:xfrm>
          <a:prstGeom prst="ellipse">
            <a:avLst/>
          </a:prstGeom>
          <a:solidFill>
            <a:srgbClr val="818CF8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66160" y="19659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148840" cy="6858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344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Images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GPT-4V, Gemini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2148840" cy="6858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8346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Audio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Whisper, Gemini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0" y="1234440"/>
            <a:ext cx="2148840" cy="6858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6832" y="12344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Video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0" y="2834640"/>
            <a:ext cx="2148840" cy="6858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28346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Documents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GPT-4o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566160" y="594360"/>
            <a:ext cx="2148840" cy="6858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9312" y="5943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Code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Codex, Copilot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566160" y="3840480"/>
            <a:ext cx="2148840" cy="6858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9312" y="38404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Speech Output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TTS, ElevenLabs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617720"/>
            <a:ext cx="8229600" cy="384048"/>
          </a:xfrm>
          <a:prstGeom prst="roundRect">
            <a:avLst>
              <a:gd name="adj" fmla="val 28571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66344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GPT-4o: See image → describe it, answer questions, read documents | Gemini: Watch video → summarize, Q&amp;A | Claude 3: Analyze charts, read PDFs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– Hallucination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Hallucination: When an LLM generates confident, plausible-sounding but factually incorrect information.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5331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Real Example: 'List cases where AI was found guilty in court'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6420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Response: 'In Smith v. OpenAI (2022), the court ruled...'  ← This case does NOT exist. The AI invented it with full confidence.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Hallucination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816352"/>
            <a:ext cx="397764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880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Hallucination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1729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Inventing facts, dates, quotes, citations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2816352"/>
            <a:ext cx="397764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2880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Hallucination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31729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fake people, companies, papers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21024"/>
            <a:ext cx="397764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685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Hallucination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9776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Contradicting itself within same response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621024"/>
            <a:ext cx="397764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685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Hallucination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9776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facts from provided context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498848"/>
            <a:ext cx="8229600" cy="502920"/>
          </a:xfrm>
          <a:prstGeom prst="roundRect">
            <a:avLst>
              <a:gd name="adj" fmla="val 21818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5720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Mitigations: RAG (grounded answers) | Temperature=0 (deterministic) | Self-consistency voting | Citation requirements | Human-in-the-loop verification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Key Challenges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606040" cy="45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115568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Bias &amp; Fairness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508760"/>
            <a:ext cx="23957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reflect biases in training data — racial, gender, cultural. Can perpetuate stereotypes at scale.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1005840"/>
            <a:ext cx="260604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1115568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Context Window Limits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01568" y="1508760"/>
            <a:ext cx="23957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process very long documents in one go. Solutions: RAG, chunking, long-context models.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005840"/>
            <a:ext cx="26060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115568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Computational Cost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36208" y="1508760"/>
            <a:ext cx="23957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millions of dollars. Inference: expensive at scale. Energy consumption is massive.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34640"/>
            <a:ext cx="2606040" cy="457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944368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Data Privacy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3337560"/>
            <a:ext cx="23957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private data risks; model may inadvertently memorize and reproduce sensitive information.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28346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2834640"/>
            <a:ext cx="2606040" cy="45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2944368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💉  Prompt Injection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01568" y="3337560"/>
            <a:ext cx="23957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instructions in input override original system instructions. Major security concern for agents.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28346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2834640"/>
            <a:ext cx="260604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2944368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Temporal Knowledge Gap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36208" y="3337560"/>
            <a:ext cx="23957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have a training cutoff. Don't know recent events without RAG or tool use (e.g., internet search).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Responsible AI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LLMs responsibly requires addressing social, ethical, and technical considerations.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32588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Transparency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1737360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should know when they're talking to AI. AI-generated content should be labeled.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1568" y="132588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Accountability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01568" y="1737360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responsibility chain for AI decisions. Humans must remain in control of high-stakes choices.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23444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6208" y="132588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Fairness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36208" y="1737360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models for demographic bias. Ensure equal performance across groups.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83464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Privacy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3246120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train on personal data without consent. Implement data minimization.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91840" y="274320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283464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Safety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01568" y="3246120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models before deployment. Implement content filters and guardrails.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274320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283464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Environmental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6208" y="3246120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footprint of training is significant. Push for energy-efficient methods.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&amp; Alignment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AI systems do what humans intend — and nothing harmful — is the central challenge of AI safety.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7160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Alignment Problem: How do we ensure that an LLM with superhuman capabilities pursues goals that are beneficial to humans?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3977640" cy="1170432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57400"/>
            <a:ext cx="3977640" cy="457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67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 (CAI)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Anthropic's approach: train models with a set of principles. Model critiques and revises its own outputs.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2057400"/>
            <a:ext cx="3977640" cy="1170432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2057400"/>
            <a:ext cx="3977640" cy="45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2167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51460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teams try to break the model — find jailbreaks, harmful outputs, before users do.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3977640" cy="1170432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474720"/>
            <a:ext cx="397764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584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/ RLAIF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93192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or AI feedback signals guide model to prefer safe, helpful, honest responses.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3474720"/>
            <a:ext cx="3977640" cy="1170432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3474720"/>
            <a:ext cx="397764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584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93192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WHY a model makes decisions. Mechanistic interpretability research at Anthropic.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Regulation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78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🇪🇺 European Union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651760" y="10789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(2024)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World's first comprehensive AI law. Risk-based: prohibited, high-risk, limited, minimal. Fines up to €35M or 7% global revenue.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00600" y="1005840"/>
            <a:ext cx="397764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078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United States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95160" y="10789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Order on AI (2023)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4173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commitments from major AI labs. Watermarking, safety reporting. State-level regulation emerging.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397764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04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 China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24048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Regulations (2023)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7432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registration, content moderation, security assessments. Must align with 'socialist core values'.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2331720"/>
            <a:ext cx="397764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404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 United Kingdom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95160" y="24048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Pro-Innovation Approach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7432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specific AI law. Sector-by-sector guidance. AI Safety Institute established for frontier model testing.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397764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730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India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51760" y="37307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Advisory (2024)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40690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Advisories to platforms. Focus on bias, misinformation. Draft Digital India Act in development.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3657600"/>
            <a:ext cx="397764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730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Global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95160" y="37307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AI Advisory Body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40690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Bletchley Declaration signed by 28 countries. G7 AI code of conduct. International coordination emerging.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LLM Pipeline – End-to-End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234440"/>
            <a:ext cx="1097280" cy="777240"/>
          </a:xfrm>
          <a:prstGeom prst="rect">
            <a:avLst/>
          </a:prstGeom>
          <a:solidFill>
            <a:srgbClr val="475569">
              <a:alpha val="75000"/>
            </a:srgbClr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2344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80744" y="1618488"/>
            <a:ext cx="21945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1234440"/>
            <a:ext cx="1097280" cy="777240"/>
          </a:xfrm>
          <a:prstGeom prst="rect">
            <a:avLst/>
          </a:prstGeom>
          <a:solidFill>
            <a:srgbClr val="38BDF8">
              <a:alpha val="75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12344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06624" y="1618488"/>
            <a:ext cx="21945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1234440"/>
            <a:ext cx="1097280" cy="777240"/>
          </a:xfrm>
          <a:prstGeom prst="rect">
            <a:avLst/>
          </a:prstGeom>
          <a:solidFill>
            <a:srgbClr val="818CF8">
              <a:alpha val="75000"/>
            </a:srgbClr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2344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32504" y="1618488"/>
            <a:ext cx="21945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1234440"/>
            <a:ext cx="1097280" cy="777240"/>
          </a:xfrm>
          <a:prstGeom prst="rect">
            <a:avLst/>
          </a:prstGeom>
          <a:solidFill>
            <a:srgbClr val="FBBF24">
              <a:alpha val="75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2344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58384" y="1618488"/>
            <a:ext cx="21945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77840" y="1234440"/>
            <a:ext cx="1097280" cy="777240"/>
          </a:xfrm>
          <a:prstGeom prst="rect">
            <a:avLst/>
          </a:prstGeom>
          <a:solidFill>
            <a:srgbClr val="34D399">
              <a:alpha val="75000"/>
            </a:srgbClr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2344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84264" y="1618488"/>
            <a:ext cx="21945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1234440"/>
            <a:ext cx="1097280" cy="777240"/>
          </a:xfrm>
          <a:prstGeom prst="rect">
            <a:avLst/>
          </a:prstGeom>
          <a:solidFill>
            <a:srgbClr val="F87171">
              <a:alpha val="75000"/>
            </a:srgbClr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12344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10144" y="1618488"/>
            <a:ext cx="21945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1234440"/>
            <a:ext cx="1097280" cy="777240"/>
          </a:xfrm>
          <a:prstGeom prst="rect">
            <a:avLst/>
          </a:prstGeom>
          <a:solidFill>
            <a:srgbClr val="38BDF8">
              <a:alpha val="75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12344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2677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/ Inference Flow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2697480"/>
            <a:ext cx="1005840" cy="640080"/>
          </a:xfrm>
          <a:prstGeom prst="rect">
            <a:avLst/>
          </a:prstGeom>
          <a:solidFill>
            <a:srgbClr val="38BDF8">
              <a:alpha val="6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697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298448" y="3017520"/>
            <a:ext cx="3657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53312" y="2697480"/>
            <a:ext cx="1005840" cy="640080"/>
          </a:xfrm>
          <a:prstGeom prst="rect">
            <a:avLst/>
          </a:prstGeom>
          <a:solidFill>
            <a:srgbClr val="818CF8">
              <a:alpha val="6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53312" y="2697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377440" y="3017520"/>
            <a:ext cx="3657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32304" y="2697480"/>
            <a:ext cx="1005840" cy="640080"/>
          </a:xfrm>
          <a:prstGeom prst="rect">
            <a:avLst/>
          </a:prstGeom>
          <a:solidFill>
            <a:srgbClr val="FBBF24">
              <a:alpha val="6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32304" y="2697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56432" y="3017520"/>
            <a:ext cx="3657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11296" y="2697480"/>
            <a:ext cx="1005840" cy="640080"/>
          </a:xfrm>
          <a:prstGeom prst="rect">
            <a:avLst/>
          </a:prstGeom>
          <a:solidFill>
            <a:srgbClr val="34D399">
              <a:alpha val="6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11296" y="2697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35424" y="3017520"/>
            <a:ext cx="3657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90288" y="2697480"/>
            <a:ext cx="1005840" cy="640080"/>
          </a:xfrm>
          <a:prstGeom prst="rect">
            <a:avLst/>
          </a:prstGeom>
          <a:solidFill>
            <a:srgbClr val="818CF8">
              <a:alpha val="6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90288" y="2697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14416" y="3017520"/>
            <a:ext cx="3657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69280" y="2697480"/>
            <a:ext cx="1005840" cy="640080"/>
          </a:xfrm>
          <a:prstGeom prst="rect">
            <a:avLst/>
          </a:prstGeom>
          <a:solidFill>
            <a:srgbClr val="FBBF24">
              <a:alpha val="6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0" y="2697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693408" y="3017520"/>
            <a:ext cx="3657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48272" y="2697480"/>
            <a:ext cx="1005840" cy="640080"/>
          </a:xfrm>
          <a:prstGeom prst="rect">
            <a:avLst/>
          </a:prstGeom>
          <a:solidFill>
            <a:srgbClr val="F87171">
              <a:alpha val="65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48272" y="2697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772400" y="3017520"/>
            <a:ext cx="3657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27264" y="2697480"/>
            <a:ext cx="1005840" cy="640080"/>
          </a:xfrm>
          <a:prstGeom prst="rect">
            <a:avLst/>
          </a:prstGeom>
          <a:solidFill>
            <a:srgbClr val="34D399">
              <a:alpha val="6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27264" y="2697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7200" y="3547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 at Inference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57200" y="39319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993392" y="39319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0=deterministic, 1=creative, 2=chaotic. Controls randomness.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00600" y="39319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 (Nucleus): 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336792" y="39319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consider tokens with cumulative prob &gt; P. Improves quality.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" y="44805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Tokens: 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993392" y="4480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limit on response length. Prevents runaway outputs.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00600" y="44805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Prompt: 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336792" y="4480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that define model's persona, constraints, context.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LLMs are Evaluated – Benchmarks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05840"/>
          <a:ext cx="5943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583680" y="1005840"/>
            <a:ext cx="2377440" cy="594360"/>
          </a:xfrm>
          <a:prstGeom prst="roundRect">
            <a:avLst>
              <a:gd name="adj" fmla="val 1846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720840" y="10789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720840" y="13258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subjects: math, law, history...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583680" y="1737360"/>
            <a:ext cx="2377440" cy="594360"/>
          </a:xfrm>
          <a:prstGeom prst="roundRect">
            <a:avLst>
              <a:gd name="adj" fmla="val 1846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20840" y="18105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HumanEval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720840" y="20574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coding problems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583680" y="2468880"/>
            <a:ext cx="2377440" cy="594360"/>
          </a:xfrm>
          <a:prstGeom prst="roundRect">
            <a:avLst>
              <a:gd name="adj" fmla="val 1846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20840" y="25420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GSM8K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720840" y="27889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school math word problems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583680" y="3200400"/>
            <a:ext cx="2377440" cy="594360"/>
          </a:xfrm>
          <a:prstGeom prst="roundRect">
            <a:avLst>
              <a:gd name="adj" fmla="val 1846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20840" y="32735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HellaSwag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720840" y="352044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sense reasoning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583680" y="3931920"/>
            <a:ext cx="2377440" cy="594360"/>
          </a:xfrm>
          <a:prstGeom prst="roundRect">
            <a:avLst>
              <a:gd name="adj" fmla="val 1846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20840" y="40050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TruthfulQA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720840" y="42519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falsehoods &amp; myths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LLM APIs – How Developers Access LLMs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interact with LLMs through REST APIs. The core concepts are simple.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256032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533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API Call (OpenAI / Claude-like):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7955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/v1/messages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"model": "claude-3-opus-20240229",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"max_tokens": 1024,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"system": "You are a helpful assistant.",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"messages":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{"role": "user", "content": "Explain quantum computing in simple terms"}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2793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64208" y="427939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LLM to use (GPT-4, Claude, Gemini)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42793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Prompt: 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98848" y="427939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AI's persona and constraints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42793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Messages: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33488" y="427939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 with roles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7183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Tokens: 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64208" y="471830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response length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47183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98848" y="471830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creativity (0-1)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47183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Stream: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33488" y="471830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response word-by-word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– The Memory of LLMs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DBs store embeddings and enable semantic similarity search — powering RAG, memory, and search.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533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Vector Search Works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Chunk documents into passages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08483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Embed each chunk → vector [0.2, -0.8, ...]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43230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Store vectors in vector database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77977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User query → embed query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12724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ANN search: find nearest vectors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47472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Return top-K most similar chunks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12344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Vector Databases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0" y="1719072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25312" y="1627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33488" y="16276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cloud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2194560"/>
            <a:ext cx="182880" cy="1828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25312" y="21031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33488" y="21031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0" y="2670048"/>
            <a:ext cx="182880" cy="1828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25312" y="25786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33488" y="25786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Developer-friendly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0" y="3145536"/>
            <a:ext cx="182880" cy="18288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25312" y="30540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33488" y="305409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performance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0" y="3621024"/>
            <a:ext cx="182880" cy="18288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25312" y="35295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33488" y="352958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extension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0" y="4096512"/>
            <a:ext cx="182880" cy="1828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25312" y="40050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33488" y="400507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scale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06908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18795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Use Cases: Semantic search | RAG knowledge base | Long-term agent memory | Recommendation systems | Duplicate detection | Image similarity search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the Enterprise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0584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1005840"/>
            <a:ext cx="3017520" cy="320040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80760" y="1115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Patterns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080760" y="14813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Private deployment (on-prem)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80760" y="19202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 residency compliance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80760" y="23591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Role-based access control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80760" y="279806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Audit logging all queries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80760" y="323697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Custom fine-tuned models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80760" y="36758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Integration with existing tools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389120"/>
            <a:ext cx="2606040" cy="594360"/>
          </a:xfrm>
          <a:prstGeom prst="roundRect">
            <a:avLst>
              <a:gd name="adj" fmla="val 1846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4434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40-55%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737360" y="448056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cost reduction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91840" y="4389120"/>
            <a:ext cx="2606040" cy="594360"/>
          </a:xfrm>
          <a:prstGeom prst="roundRect">
            <a:avLst>
              <a:gd name="adj" fmla="val 1846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29000" y="4434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3-5x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572000" y="448056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production speed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126480" y="4389120"/>
            <a:ext cx="2606040" cy="594360"/>
          </a:xfrm>
          <a:prstGeom prst="roundRect">
            <a:avLst>
              <a:gd name="adj" fmla="val 1846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63640" y="4434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$13.8B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406640" y="448056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market 2024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 – Operating LLMs in Production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 is MLOps adapted for LLMs. Running LLMs reliably at scale requires specialized tooling.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2606040" cy="1389888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35331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Management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70078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LangSmith, PromptLayer, Helicone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011680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A/B test prompts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261872"/>
            <a:ext cx="2606040" cy="1389888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135331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01568" y="170078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Langfuse, Datadog, Arize AI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01568" y="2011680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latency, cost, quality at scale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261872"/>
            <a:ext cx="2606040" cy="1389888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35331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36208" y="170078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RAGAS, TruLens, DeepEval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36208" y="2011680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quality scoring of LLM outputs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07792"/>
            <a:ext cx="2606040" cy="1389888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9992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33467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AI, NeMo Guardrails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3657600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output format and safety rules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2907792"/>
            <a:ext cx="2606040" cy="1389888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29992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01568" y="33467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GPTCache, Redis semantic cache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01568" y="3657600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repeated queries to cut costs 80%+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907792"/>
            <a:ext cx="2606040" cy="1389888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29992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36208" y="33467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LangChain, LlamaIndex, Haystack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36208" y="3657600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prompts, tools, and agents together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of LLMs – What's Next?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pace of progress is accelerating. Here are the key trends shaping next-generation LLMs.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32588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Reasoning Models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746504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o1, DeepSeek-R1: Chain-of-thought at scale. Models that 'think' before answering. 20x better at complex math/science.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1568" y="132588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Agentic Systems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01568" y="1746504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as autonomous workers: browse web, write code, send emails, execute multi-day projects with minimal supervision.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23444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6208" y="132588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Multimodal Natively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36208" y="1746504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models trained on text+image+audio+video simultaneously from scratch. Not bolted-on — truly integrated.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06324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Smaller &amp; Efficient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3483864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 Mini (3.8B params) outperforms early GPT-4 on benchmarks. On-device AI on phones becoming reality.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91840" y="297180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306324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World Models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01568" y="3483864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that understand physics, space, causality. Can simulate and predict real-world events, not just describe them.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297180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306324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Memory &amp; Personalization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36208" y="3483864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that remember your preferences, history, and style across all sessions — truly personal AI companions.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Laws – Bigger = Better?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Kaplan et al. (OpenAI 2020) showed predictable power-law relationships between model size, data, and performance.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23444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234440"/>
            <a:ext cx="3291840" cy="292608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13533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806440" y="17190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Performance improves predictably with compute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806440" y="2103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Optimal: scale params AND data together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806440" y="24871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Chinchilla law: 70B model needs 1.4T tokens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806440" y="28712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Emergent abilities appear above certain size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806440" y="325526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Diminishing returns but no ceiling yet seen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806440" y="36393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Efficient models &gt; big models (Phi-3)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4279392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43434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Abilities: Some capabilities only appear above a certain model scale — not predictable from smaller models. Examples: chain-of-thought reasoning (&gt;100B), multi-step math, analogy solving.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Language Models (SLMs) &amp; On-Device AI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use case needs GPT-4. Small, efficient models are dominating edge and mobile use cases.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14600" y="12618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931920" y="12618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66360" y="12618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2618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27632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 Mini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14600" y="1719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31920" y="1719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719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1719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&amp; reasoning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176272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267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2B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14600" y="22677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22677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66360" y="22677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22677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tasks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724912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816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 1B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14600" y="28163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0" y="28163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66360" y="28163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2816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tasks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273552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7B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14600" y="3364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93192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3364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following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822192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3913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1.5 4B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514600" y="39136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931920" y="3913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3913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0" y="3913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4462272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55371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SLMs: Zero latency | Complete privacy | No API costs | Works offline | Fine-tunable | Runs on $100 hardware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Tools Ecosystem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06040" cy="1664208"/>
          </a:xfrm>
          <a:prstGeom prst="roundRect">
            <a:avLst>
              <a:gd name="adj" fmla="val 6593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6060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11556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48132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ChatGPT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7393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Claude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06654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Gemini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35915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Perplexity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65176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Jasper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606040" cy="1664208"/>
          </a:xfrm>
          <a:prstGeom prst="roundRect">
            <a:avLst>
              <a:gd name="adj" fmla="val 6593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005840"/>
            <a:ext cx="260604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111556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01568" y="148132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Midjourney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01568" y="177393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DALL-E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01568" y="206654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Stable Diffusion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01568" y="235915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Adobe Firefly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606040" cy="1664208"/>
          </a:xfrm>
          <a:prstGeom prst="roundRect">
            <a:avLst>
              <a:gd name="adj" fmla="val 6593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005840"/>
            <a:ext cx="260604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111556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36208" y="148132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GitHub Copilot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36208" y="177393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Cursor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36208" y="206654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Replit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36208" y="235915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CodeWhisperer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926080"/>
            <a:ext cx="2606040" cy="1664208"/>
          </a:xfrm>
          <a:prstGeom prst="roundRect">
            <a:avLst>
              <a:gd name="adj" fmla="val 6593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926080"/>
            <a:ext cx="2606040" cy="45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03580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Generation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" y="340156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Sora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" y="369417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Runway ML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398678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Pika Labs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" y="427939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HeyGen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2926080"/>
            <a:ext cx="2606040" cy="1664208"/>
          </a:xfrm>
          <a:prstGeom prst="roundRect">
            <a:avLst>
              <a:gd name="adj" fmla="val 6593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91840" y="2926080"/>
            <a:ext cx="2606040" cy="457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01568" y="303580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Audio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401568" y="340156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ElevenLabs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401568" y="369417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Suno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01568" y="398678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Udio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01568" y="427939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Whisper (STT)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26480" y="2926080"/>
            <a:ext cx="2606040" cy="1664208"/>
          </a:xfrm>
          <a:prstGeom prst="roundRect">
            <a:avLst>
              <a:gd name="adj" fmla="val 6593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26480" y="2926080"/>
            <a:ext cx="260604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36208" y="303580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36208" y="340156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Notion AI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36208" y="369417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Microsoft Copilot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36208" y="398678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Google Workspace AI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6060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11556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 Stanley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1481328"/>
            <a:ext cx="23957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trained on 100K+ research docs.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20,000+ advisors use it daily for client queries.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2hrs saved per advisor per day.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1005840"/>
            <a:ext cx="260604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111556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Klarna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01568" y="1481328"/>
            <a:ext cx="23957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handles 2/3 of customer service chats.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 700 full-time employees.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$40M annual savings.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005840"/>
            <a:ext cx="260604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11556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36208" y="1481328"/>
            <a:ext cx="23957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powers 'Duolingo Max'.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My Answer + Roleplay features.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5x increase in learner retention.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34640"/>
            <a:ext cx="2606040" cy="457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94436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" y="3310128"/>
            <a:ext cx="23957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 of code written by AI in Copilot users.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paying subscribers in first year.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Devs 55% faster on new tasks.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28346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2834640"/>
            <a:ext cx="2606040" cy="45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294436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Clinic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01568" y="3310128"/>
            <a:ext cx="23957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summarizes patient records before appointments.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spend 2hrs less on documentation daily.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34% better patient satisfaction scores.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28346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2834640"/>
            <a:ext cx="2606040" cy="457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294436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36208" y="3310128"/>
            <a:ext cx="23957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 feature: personalized AI DJ with commentary.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100M+ streams using AI-generated narration.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30% increase in session time.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LLMs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beginner to practitioner — your learning roadmap.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61872"/>
            <a:ext cx="260604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898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 ChatGPT / Claude daily for tasks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30428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Learn prompt engineering basics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77977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Take fast.ai or DeepLearning.AI courses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325526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Explore Hugging Face model hub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261872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261872"/>
            <a:ext cx="260604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3898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29000" y="18288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 OpenAI / Anthropic APIs in Python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29000" y="230428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Build RAG apps with LangChain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29000" y="277977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Fine-tune Llama 3 with LoRA (free on Colab)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29000" y="325526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Deploy with FastAPI + Docker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1261872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261872"/>
            <a:ext cx="260604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3898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63640" y="18288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Pre-train models from scratch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63640" y="230428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Implement RLHF pipeline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63640" y="277977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Build multi-agent systems (AutoGen/CrewAI)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63640" y="325526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Contribute to open-source LLM projects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3886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Must-Know Resources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4251960"/>
            <a:ext cx="3977640" cy="347472"/>
          </a:xfrm>
          <a:prstGeom prst="roundRect">
            <a:avLst>
              <a:gd name="adj" fmla="val 31579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297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Courses DeepLearning.AI Short Courses (free)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4251960"/>
            <a:ext cx="3977640" cy="347472"/>
          </a:xfrm>
          <a:prstGeom prst="roundRect">
            <a:avLst>
              <a:gd name="adj" fmla="val 31579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4297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Book "Build a Large Language Model from Scratch" – Raschka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690872"/>
            <a:ext cx="3977640" cy="347472"/>
          </a:xfrm>
          <a:prstGeom prst="roundRect">
            <a:avLst>
              <a:gd name="adj" fmla="val 31579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7365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Research ArXiv.org – papers, Hugging Face Papers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00600" y="4690872"/>
            <a:ext cx="3977640" cy="347472"/>
          </a:xfrm>
          <a:prstGeom prst="roundRect">
            <a:avLst>
              <a:gd name="adj" fmla="val 31579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47365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🧰 Practice Kaggle LLM competitions, LeetCode AI</a:t>
            </a:r>
            <a:endParaRPr lang="en-US" sz="10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Glossary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965960" y="10241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 – deep learning model trained on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08176"/>
            <a:ext cx="3977640" cy="0"/>
          </a:xfrm>
          <a:prstGeom prst="line">
            <a:avLst/>
          </a:prstGeom>
          <a:noFill/>
          <a:ln w="6350">
            <a:solidFill>
              <a:srgbClr val="475569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270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965960" y="15270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architecture using attention, backbone of all LLMs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11096"/>
            <a:ext cx="3977640" cy="0"/>
          </a:xfrm>
          <a:prstGeom prst="line">
            <a:avLst/>
          </a:prstGeom>
          <a:noFill/>
          <a:ln w="6350">
            <a:solidFill>
              <a:srgbClr val="475569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299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965960" y="20299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unit of text (≈4 chars). LLMs think in tokens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14016"/>
            <a:ext cx="3977640" cy="0"/>
          </a:xfrm>
          <a:prstGeom prst="line">
            <a:avLst/>
          </a:prstGeom>
          <a:noFill/>
          <a:ln w="6350">
            <a:solidFill>
              <a:srgbClr val="475569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328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965960" y="25328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vector representation of semantic meaning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16936"/>
            <a:ext cx="3977640" cy="0"/>
          </a:xfrm>
          <a:prstGeom prst="line">
            <a:avLst/>
          </a:prstGeom>
          <a:noFill/>
          <a:ln w="6350">
            <a:solidFill>
              <a:srgbClr val="475569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358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965960" y="30358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pre-trained model on specific task/domain data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19856"/>
            <a:ext cx="3977640" cy="0"/>
          </a:xfrm>
          <a:prstGeom prst="line">
            <a:avLst/>
          </a:prstGeom>
          <a:noFill/>
          <a:ln w="6350">
            <a:solidFill>
              <a:srgbClr val="475569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387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965960" y="35387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from Human Feedback — alignment technique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22776"/>
            <a:ext cx="3977640" cy="0"/>
          </a:xfrm>
          <a:prstGeom prst="line">
            <a:avLst/>
          </a:prstGeom>
          <a:noFill/>
          <a:ln w="6350">
            <a:solidFill>
              <a:srgbClr val="475569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416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965960" y="40416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— connect LLM to external data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425696"/>
            <a:ext cx="3977640" cy="0"/>
          </a:xfrm>
          <a:prstGeom prst="line">
            <a:avLst/>
          </a:prstGeom>
          <a:noFill/>
          <a:ln w="6350">
            <a:solidFill>
              <a:srgbClr val="475569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5445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965960" y="45445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generates confident but factually wrong information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10241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09360" y="10241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randomness of outputs (0=deterministic, 1=creative)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1408176"/>
            <a:ext cx="3977640" cy="0"/>
          </a:xfrm>
          <a:prstGeom prst="line">
            <a:avLst/>
          </a:prstGeom>
          <a:noFill/>
          <a:ln w="6350">
            <a:solidFill>
              <a:srgbClr val="475569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5270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09360" y="15270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text given to an LLM to guide its output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1911096"/>
            <a:ext cx="3977640" cy="0"/>
          </a:xfrm>
          <a:prstGeom prst="line">
            <a:avLst/>
          </a:prstGeom>
          <a:noFill/>
          <a:ln w="6350">
            <a:solidFill>
              <a:srgbClr val="475569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0299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309360" y="20299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tokens a model can process at once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0600" y="2414016"/>
            <a:ext cx="3977640" cy="0"/>
          </a:xfrm>
          <a:prstGeom prst="line">
            <a:avLst/>
          </a:prstGeom>
          <a:noFill/>
          <a:ln w="6350">
            <a:solidFill>
              <a:srgbClr val="475569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5328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309360" y="25328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that can plan, use tools, and execute multi-step tasks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00600" y="2916936"/>
            <a:ext cx="3977640" cy="0"/>
          </a:xfrm>
          <a:prstGeom prst="line">
            <a:avLst/>
          </a:prstGeom>
          <a:noFill/>
          <a:ln w="6350">
            <a:solidFill>
              <a:srgbClr val="475569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0358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309360" y="30358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instruction without any examples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00600" y="3419856"/>
            <a:ext cx="3977640" cy="0"/>
          </a:xfrm>
          <a:prstGeom prst="line">
            <a:avLst/>
          </a:prstGeom>
          <a:noFill/>
          <a:ln w="6350">
            <a:solidFill>
              <a:srgbClr val="475569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5387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309360" y="35387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examples to guide model behavior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00600" y="3922776"/>
            <a:ext cx="3977640" cy="0"/>
          </a:xfrm>
          <a:prstGeom prst="line">
            <a:avLst/>
          </a:prstGeom>
          <a:noFill/>
          <a:ln w="6350">
            <a:solidFill>
              <a:srgbClr val="475569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40416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309360" y="40416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to encourage step-by-step reasoning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Cost Analysis &amp; Pricing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cost structure is critical for production AI deployment decisions.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234440"/>
          <a:ext cx="5943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234440"/>
            <a:ext cx="2377440" cy="274320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20840" y="1353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Tips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720840" y="17190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 smaller models for simple tasks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720840" y="20665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Cache frequent responses (80% savings)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720840" y="24140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Batch requests when possible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720840" y="27614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 streaming to reduce wait time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720840" y="31089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Fine-tune small model vs GPT-4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720840" y="34564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Self-host with Ollama (free)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411480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422452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*Self-hosted models (Llama 3) have zero API cost — only compute infrastructure costs (~$0.0002/1K tokens on cloud GPU)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Market Size &amp; Growth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05840"/>
          <a:ext cx="54864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126480" y="1005840"/>
            <a:ext cx="283464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63640" y="107899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$280B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498080" y="11612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by 2030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126480" y="1828800"/>
            <a:ext cx="283464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63640" y="190195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498080" y="19842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2023-2030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2651760"/>
            <a:ext cx="283464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27249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100M+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498080" y="28072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users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26480" y="3474720"/>
            <a:ext cx="283464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63640" y="35478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498080" y="36301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using GenAI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4434840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162032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45262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Investors: Microsoft ($13B → OpenAI), Google ($300M → Anthropic), Amazon ($4B → Anthropic). Total GenAI investment in 2023: $25B+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Potential for Misuse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technology requires awareness of misuse potential and societal risks.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307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Deepfakes &amp; Disinformation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6184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fake videos/audio of politicians, celebrities. Synthetic news articles at scale.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9293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Watermarking, detection tools, media literacy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234440"/>
            <a:ext cx="3977640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307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Phishing &amp; Scams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10328" y="16184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Hyper-personalized, grammatically perfect phishing emails. Voice cloning scam calls.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10328" y="19293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Email security, awareness training, verification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96312"/>
            <a:ext cx="3977640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694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Academic Dishonesty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28803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AI-written essays, papers, homework submitted as original work.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3191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 detectors, oral exams, process assessment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496312"/>
            <a:ext cx="3977640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25694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Job Displacement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10328" y="28803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of knowledge worker tasks: content, coding, translation, customer service.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10328" y="3191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Reskilling, UBI discussions, gradual transition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58184"/>
            <a:ext cx="3977640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8313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Concentration of Power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41422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companies control most powerful AI systems, creating dangerous dependencies.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" y="44531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Open source, regulation, antitrust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758184"/>
            <a:ext cx="3977640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38313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Cybersecurity Threats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10328" y="41422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malware, automated vulnerability discovery, faster attack cycles.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10328" y="44531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AI-powered defense, incident response plans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– Everything in a Nutshell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43000"/>
            <a:ext cx="384048" cy="38404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78992" y="118872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creates new content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27632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images, audio, video, code — powered by neural networks trained on massive datasets.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143000"/>
            <a:ext cx="384048" cy="384048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13632" y="118872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the backbone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627632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+ self-attention + scale = models that understand and generate human language.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143000"/>
            <a:ext cx="384048" cy="38404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48272" y="118872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has stages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1627632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(learn language) → Fine-tuning (task-specific) → RLHF (alignment with humans).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670048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807208"/>
            <a:ext cx="384048" cy="38404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78992" y="2852928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are everywhere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3291840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Healthcare, finance, education, legal, software, creative — every industry is being transformed.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2670048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29000" y="2807208"/>
            <a:ext cx="384048" cy="38404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13632" y="2852928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are real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29000" y="3291840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Hallucination, bias, cost, privacy, safety — must be actively managed, not ignored.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2670048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2807208"/>
            <a:ext cx="384048" cy="384048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48272" y="2852928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is agentic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63640" y="3291840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evolving from chat assistants to autonomous agents that take actions in the world.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1732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5344</Words>
  <Application>Microsoft Office PowerPoint</Application>
  <PresentationFormat>On-screen Show (16:9)</PresentationFormat>
  <Paragraphs>1094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GenAI &amp; LLMs - Comprehensive Guide</dc:title>
  <dc:subject>PptxGenJS Presentation</dc:subject>
  <dc:creator>PK</dc:creator>
  <cp:lastModifiedBy>Palani Karthikeyan</cp:lastModifiedBy>
  <cp:revision>2</cp:revision>
  <dcterms:created xsi:type="dcterms:W3CDTF">2026-04-10T23:45:31Z</dcterms:created>
  <dcterms:modified xsi:type="dcterms:W3CDTF">2026-04-11T00:54:24Z</dcterms:modified>
</cp:coreProperties>
</file>